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6" r:id="rId2"/>
  </p:sldIdLst>
  <p:sldSz cx="15119350" cy="10691813"/>
  <p:notesSz cx="6858000" cy="9144000"/>
  <p:defaultTextStyle>
    <a:defPPr>
      <a:defRPr lang="en-US"/>
    </a:defPPr>
    <a:lvl1pPr marL="0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639"/>
  </p:normalViewPr>
  <p:slideViewPr>
    <p:cSldViewPr snapToGrid="0" snapToObjects="1">
      <p:cViewPr>
        <p:scale>
          <a:sx n="80" d="100"/>
          <a:sy n="80" d="100"/>
        </p:scale>
        <p:origin x="9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F481C-6328-064C-B623-7C4C487C5ADB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5554-CD29-F445-B422-FCE0912AC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45554-CD29-F445-B422-FCE0912AC7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8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9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8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7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7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3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90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8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21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2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7A8F2-0451-CF42-934B-B32C6ECDEC1F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8A9B3-5C8A-6649-B37B-1A0CBC81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psyg.2020.01810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3389/fpsyg.2023.1219945" TargetMode="External"/><Relationship Id="rId5" Type="http://schemas.openxmlformats.org/officeDocument/2006/relationships/hyperlink" Target="https://doi.org/10.1016/j.cub.2020.02.065" TargetMode="External"/><Relationship Id="rId4" Type="http://schemas.openxmlformats.org/officeDocument/2006/relationships/hyperlink" Target="https://doi.org/10.3390/life150303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  <a:alpha val="50000"/>
              </a:schemeClr>
            </a:gs>
            <a:gs pos="100000">
              <a:schemeClr val="accent2">
                <a:lumMod val="90000"/>
                <a:lumOff val="1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47">
            <a:extLst>
              <a:ext uri="{FF2B5EF4-FFF2-40B4-BE49-F238E27FC236}">
                <a16:creationId xmlns:a16="http://schemas.microsoft.com/office/drawing/2014/main" id="{D2F3EA97-48B1-564F-A0D4-727EB09DF056}"/>
              </a:ext>
            </a:extLst>
          </p:cNvPr>
          <p:cNvSpPr/>
          <p:nvPr/>
        </p:nvSpPr>
        <p:spPr>
          <a:xfrm>
            <a:off x="6657226" y="6598499"/>
            <a:ext cx="8280000" cy="917999"/>
          </a:xfrm>
          <a:custGeom>
            <a:avLst/>
            <a:gdLst>
              <a:gd name="connsiteX0" fmla="*/ 0 w 3411708"/>
              <a:gd name="connsiteY0" fmla="*/ 0 h 660369"/>
              <a:gd name="connsiteX1" fmla="*/ 3411708 w 3411708"/>
              <a:gd name="connsiteY1" fmla="*/ 0 h 660369"/>
              <a:gd name="connsiteX2" fmla="*/ 3411708 w 3411708"/>
              <a:gd name="connsiteY2" fmla="*/ 660369 h 660369"/>
              <a:gd name="connsiteX3" fmla="*/ 0 w 3411708"/>
              <a:gd name="connsiteY3" fmla="*/ 660369 h 660369"/>
              <a:gd name="connsiteX4" fmla="*/ 0 w 3411708"/>
              <a:gd name="connsiteY4" fmla="*/ 0 h 66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708" h="660369">
                <a:moveTo>
                  <a:pt x="0" y="0"/>
                </a:moveTo>
                <a:lnTo>
                  <a:pt x="3411708" y="0"/>
                </a:lnTo>
                <a:lnTo>
                  <a:pt x="3411708" y="660369"/>
                </a:lnTo>
                <a:lnTo>
                  <a:pt x="0" y="6603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051DF6-F674-9648-A003-B3E57713A5CA}"/>
              </a:ext>
            </a:extLst>
          </p:cNvPr>
          <p:cNvSpPr txBox="1"/>
          <p:nvPr/>
        </p:nvSpPr>
        <p:spPr>
          <a:xfrm>
            <a:off x="6636148" y="6181911"/>
            <a:ext cx="8347178" cy="20159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1"/>
                </a:solidFill>
              </a:rPr>
              <a:t>Discussion &amp; Limitations</a:t>
            </a:r>
          </a:p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Decreased alpha oscillations and simultaneous increases in theta oscillations in handwriting group only will demonstrate handwriting, not typing (regardless of habituation), optimises adolescent learning, influencing educational policy. 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Limitations include the potential for cross-hemispheric noise on the EEG due to typists using both hands but hand-writers predominantly using one. 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248E7D9-BD63-1248-B55D-0D5F21FCFD62}"/>
              </a:ext>
            </a:extLst>
          </p:cNvPr>
          <p:cNvSpPr/>
          <p:nvPr/>
        </p:nvSpPr>
        <p:spPr>
          <a:xfrm>
            <a:off x="154532" y="8807520"/>
            <a:ext cx="6227088" cy="1620000"/>
          </a:xfrm>
          <a:custGeom>
            <a:avLst/>
            <a:gdLst>
              <a:gd name="connsiteX0" fmla="*/ 0 w 3411708"/>
              <a:gd name="connsiteY0" fmla="*/ 0 h 660369"/>
              <a:gd name="connsiteX1" fmla="*/ 3411708 w 3411708"/>
              <a:gd name="connsiteY1" fmla="*/ 0 h 660369"/>
              <a:gd name="connsiteX2" fmla="*/ 3411708 w 3411708"/>
              <a:gd name="connsiteY2" fmla="*/ 660369 h 660369"/>
              <a:gd name="connsiteX3" fmla="*/ 0 w 3411708"/>
              <a:gd name="connsiteY3" fmla="*/ 660369 h 660369"/>
              <a:gd name="connsiteX4" fmla="*/ 0 w 3411708"/>
              <a:gd name="connsiteY4" fmla="*/ 0 h 66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708" h="660369">
                <a:moveTo>
                  <a:pt x="0" y="0"/>
                </a:moveTo>
                <a:lnTo>
                  <a:pt x="3411708" y="0"/>
                </a:lnTo>
                <a:lnTo>
                  <a:pt x="3411708" y="660369"/>
                </a:lnTo>
                <a:lnTo>
                  <a:pt x="0" y="6603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2B284-CA6E-ED4C-A81C-4DDE62300D1F}"/>
              </a:ext>
            </a:extLst>
          </p:cNvPr>
          <p:cNvSpPr txBox="1"/>
          <p:nvPr/>
        </p:nvSpPr>
        <p:spPr>
          <a:xfrm>
            <a:off x="95231" y="3622544"/>
            <a:ext cx="6400048" cy="6908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1"/>
                </a:solidFill>
              </a:rPr>
              <a:t>Introduction</a:t>
            </a:r>
            <a:endParaRPr lang="en-US" sz="2500" dirty="0">
              <a:solidFill>
                <a:schemeClr val="accent1"/>
              </a:solidFill>
            </a:endParaRP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Optimal learning is associated with decreases in alpha oscillations and simultaneous increases in theta oscillations in the parietal cortex (Riddle et al., 2020). 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Such activity is present in the postcentral gyrus and posterior parietal regions when handwriting but absent when typing (Marano et al., 2025).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pPr marL="195263" indent="-195263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endParaRPr lang="en-US" sz="2000" dirty="0">
              <a:solidFill>
                <a:schemeClr val="accent1"/>
              </a:solidFill>
            </a:endParaRP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Consequences of current trends of increased typing by adolescents in schools unclear as previous research: 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  <a:latin typeface="+mj-lt"/>
            </a:endParaRPr>
          </a:p>
          <a:p>
            <a:pPr marL="195263" indent="-195263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  <a:latin typeface="+mj-lt"/>
            </a:endParaRPr>
          </a:p>
          <a:p>
            <a:pPr marL="195263" indent="-195263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/>
              </a:solidFill>
              <a:latin typeface="+mj-lt"/>
            </a:endParaRPr>
          </a:p>
          <a:p>
            <a:pPr algn="r"/>
            <a:r>
              <a:rPr lang="en-US" sz="2000" dirty="0">
                <a:solidFill>
                  <a:schemeClr val="accent1"/>
                </a:solidFill>
              </a:rPr>
              <a:t>(Askvik et al., 2020; van der Weel &amp; van der Meer, 2024)</a:t>
            </a:r>
          </a:p>
          <a:p>
            <a:r>
              <a:rPr lang="en-US" sz="1000" dirty="0">
                <a:solidFill>
                  <a:schemeClr val="accent1"/>
                </a:solidFill>
                <a:latin typeface="+mj-lt"/>
              </a:rPr>
              <a:t> </a:t>
            </a:r>
          </a:p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The proposed research will aim to demonstrate handwriting, not typing,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optimises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adolescent brains for learning by:</a:t>
            </a:r>
          </a:p>
          <a:p>
            <a:pPr marL="311150" lvl="1" indent="-115888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Focusing on adolescents. </a:t>
            </a:r>
          </a:p>
          <a:p>
            <a:pPr marL="311150" lvl="1" indent="-115888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Comparing fluent handwriting with fluent typing.</a:t>
            </a:r>
          </a:p>
          <a:p>
            <a:pPr marL="311150" lvl="1" indent="-115888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Considering effects of typing as a normal way of working.</a:t>
            </a:r>
          </a:p>
          <a:p>
            <a:pPr marL="195262" lvl="1"/>
            <a:r>
              <a:rPr lang="en-US" sz="500" dirty="0">
                <a:solidFill>
                  <a:schemeClr val="accent1"/>
                </a:solidFill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C48F7-510E-9540-807C-B133D67F8600}"/>
              </a:ext>
            </a:extLst>
          </p:cNvPr>
          <p:cNvSpPr txBox="1"/>
          <p:nvPr/>
        </p:nvSpPr>
        <p:spPr>
          <a:xfrm>
            <a:off x="89544" y="102409"/>
            <a:ext cx="14893781" cy="131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000" b="1">
                <a:solidFill>
                  <a:schemeClr val="bg1"/>
                </a:solidFill>
              </a:rPr>
              <a:t>Do adolescents who handwrite as their normal way of working show increased connectivity in the parietal region compared to adolescents who type as their normal way of working?</a:t>
            </a:r>
          </a:p>
          <a:p>
            <a:pPr algn="ctr"/>
            <a:r>
              <a:rPr lang="en-GB" sz="2000">
                <a:solidFill>
                  <a:schemeClr val="bg1"/>
                </a:solidFill>
              </a:rPr>
              <a:t>Alex Porter – University of Essex – </a:t>
            </a:r>
            <a:r>
              <a:rPr lang="en-GB" sz="2000" err="1">
                <a:solidFill>
                  <a:schemeClr val="bg1"/>
                </a:solidFill>
              </a:rPr>
              <a:t>provided@essex.ac.uk</a:t>
            </a:r>
            <a:endParaRPr lang="en-GB" sz="20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FDE4A-1652-9641-AB73-5CE2A3BD4F00}"/>
              </a:ext>
            </a:extLst>
          </p:cNvPr>
          <p:cNvSpPr txBox="1"/>
          <p:nvPr/>
        </p:nvSpPr>
        <p:spPr>
          <a:xfrm>
            <a:off x="89545" y="1470324"/>
            <a:ext cx="6398060" cy="20159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b="1">
                <a:solidFill>
                  <a:schemeClr val="accent1"/>
                </a:solidFill>
              </a:rPr>
              <a:t>Abstract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/>
                </a:solidFill>
                <a:latin typeface="+mj-lt"/>
              </a:rPr>
              <a:t>HG-EEG study comparing alpha and theta oscillations in the parietal brain regions of adolescents when typing or handwriting in response to an audio stimulus. 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/>
                </a:solidFill>
                <a:latin typeface="+mj-lt"/>
              </a:rPr>
              <a:t>Results will inform and influence UK educational practices to ensure school use of optimal learning modalities.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3619A-D32A-0F4D-8BAC-DDF287A04334}"/>
              </a:ext>
            </a:extLst>
          </p:cNvPr>
          <p:cNvSpPr txBox="1"/>
          <p:nvPr/>
        </p:nvSpPr>
        <p:spPr>
          <a:xfrm>
            <a:off x="6639826" y="1470689"/>
            <a:ext cx="8343502" cy="46320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1"/>
                </a:solidFill>
              </a:rPr>
              <a:t>Research Design &amp; Method</a:t>
            </a:r>
            <a:endParaRPr lang="en-US" sz="2500" dirty="0">
              <a:solidFill>
                <a:schemeClr val="accent1"/>
              </a:solidFill>
            </a:endParaRP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Participants = right-handed, male and female 15-year-old UK school pupils.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N=63 (based upon </a:t>
            </a:r>
            <a:r>
              <a:rPr lang="en-US" sz="2000" i="1" dirty="0">
                <a:solidFill>
                  <a:schemeClr val="accent1"/>
                </a:solidFill>
                <a:latin typeface="+mj-lt"/>
              </a:rPr>
              <a:t>a priori </a:t>
            </a:r>
            <a:r>
              <a:rPr lang="en-US" sz="2000" dirty="0">
                <a:solidFill>
                  <a:schemeClr val="accent1"/>
                </a:solidFill>
                <a:latin typeface="+mj-lt"/>
              </a:rPr>
              <a:t>analysis in G*Power 3.1) in three equal groups: typists typing; hand-writers handwriting; hand-writers typing.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Procedure:</a:t>
            </a: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endParaRPr lang="en-US" sz="1000" dirty="0">
              <a:solidFill>
                <a:schemeClr val="accent1"/>
              </a:solidFill>
            </a:endParaRPr>
          </a:p>
          <a:p>
            <a:endParaRPr lang="en-US" sz="1000" dirty="0">
              <a:solidFill>
                <a:schemeClr val="accent1"/>
              </a:solidFill>
            </a:endParaRPr>
          </a:p>
          <a:p>
            <a:endParaRPr lang="en-US" sz="1000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chemeClr val="accent1"/>
                </a:solidFill>
              </a:rPr>
              <a:t>Ethics: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Safety, comfort, wellbeing and consent of adolescent participants </a:t>
            </a:r>
            <a:r>
              <a:rPr lang="en-US" sz="2000" dirty="0" err="1">
                <a:solidFill>
                  <a:schemeClr val="accent1"/>
                </a:solidFill>
              </a:rPr>
              <a:t>prioritised</a:t>
            </a:r>
            <a:r>
              <a:rPr lang="en-US" sz="2000" dirty="0">
                <a:solidFill>
                  <a:schemeClr val="accent1"/>
                </a:solidFill>
              </a:rPr>
              <a:t>. 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BPS Guidance followed throughout e.g. information sheets/consent forms.</a:t>
            </a:r>
          </a:p>
          <a:p>
            <a:pPr marL="195263" indent="-1952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Parent/</a:t>
            </a:r>
            <a:r>
              <a:rPr lang="en-US" sz="2000" dirty="0" err="1">
                <a:solidFill>
                  <a:schemeClr val="accent1"/>
                </a:solidFill>
              </a:rPr>
              <a:t>carers</a:t>
            </a:r>
            <a:r>
              <a:rPr lang="en-US" sz="2000" dirty="0">
                <a:solidFill>
                  <a:schemeClr val="accent1"/>
                </a:solidFill>
              </a:rPr>
              <a:t> can observe at all times and researchers fully DBS checked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0CE2D3-E64D-9945-9A60-4520650AD47A}"/>
              </a:ext>
            </a:extLst>
          </p:cNvPr>
          <p:cNvSpPr txBox="1"/>
          <p:nvPr/>
        </p:nvSpPr>
        <p:spPr>
          <a:xfrm>
            <a:off x="6636148" y="8315178"/>
            <a:ext cx="8347178" cy="22159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b="1">
                <a:solidFill>
                  <a:schemeClr val="accent1"/>
                </a:solidFill>
              </a:rPr>
              <a:t>References</a:t>
            </a:r>
          </a:p>
          <a:p>
            <a:pPr marL="136525" indent="-136525"/>
            <a:r>
              <a:rPr lang="en-US" sz="1140" err="1">
                <a:solidFill>
                  <a:schemeClr val="accent1"/>
                </a:solidFill>
                <a:latin typeface="+mj-lt"/>
              </a:rPr>
              <a:t>Askvik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E. O., van der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Weel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F. R. R., &amp; van der Meer, A. L. H. (2020). The importance of cursive handwriting over typewriting for learning in the classroom: A high-density EEG study of 12-year-old children and young adults. </a:t>
            </a:r>
            <a:r>
              <a:rPr lang="en-US" sz="1140" i="1">
                <a:solidFill>
                  <a:schemeClr val="accent1"/>
                </a:solidFill>
                <a:latin typeface="+mj-lt"/>
              </a:rPr>
              <a:t>Frontiers in psychology, 11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1810. </a:t>
            </a:r>
            <a:r>
              <a:rPr lang="en-US" sz="1140">
                <a:solidFill>
                  <a:schemeClr val="accent1"/>
                </a:solidFill>
                <a:latin typeface="+mj-lt"/>
                <a:hlinkClick r:id="rId3"/>
              </a:rPr>
              <a:t>https://doi.org/10.3389/fpsyg.2020.01810</a:t>
            </a:r>
            <a:endParaRPr lang="en-US" sz="1140">
              <a:solidFill>
                <a:schemeClr val="accent1"/>
              </a:solidFill>
              <a:latin typeface="+mj-lt"/>
            </a:endParaRPr>
          </a:p>
          <a:p>
            <a:pPr marL="136525" indent="-136525"/>
            <a:r>
              <a:rPr lang="en-US" sz="1140" err="1">
                <a:solidFill>
                  <a:schemeClr val="accent1"/>
                </a:solidFill>
                <a:latin typeface="+mj-lt"/>
              </a:rPr>
              <a:t>Marano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G.,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Kotzalidis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G. D.,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Lisci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F. M.,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Anesini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M. B., Rossi, S.,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Barbonetti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S.,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Cangini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A.,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Ronsisvalle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A.,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Artuso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L.,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Falsini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C.,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Caso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R.,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Mandracchia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G.,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Brisi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C.,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Traversi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G., Mazza, O., Pola, R., Sani, G.,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Mercuri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E. M., Gaetani, E., &amp; Mazza, M. (2025). The Neuroscience Behind Writing: Handwriting vs. Typing-Who Wins the Battle?. </a:t>
            </a:r>
            <a:r>
              <a:rPr lang="en-US" sz="1140" i="1">
                <a:solidFill>
                  <a:schemeClr val="accent1"/>
                </a:solidFill>
                <a:latin typeface="+mj-lt"/>
              </a:rPr>
              <a:t>Life (Basel, Switzerland), 15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(3), 345. </a:t>
            </a:r>
            <a:r>
              <a:rPr lang="en-US" sz="1140">
                <a:solidFill>
                  <a:schemeClr val="accent1"/>
                </a:solidFill>
                <a:latin typeface="+mj-lt"/>
                <a:hlinkClick r:id="rId4"/>
              </a:rPr>
              <a:t>https://doi.org/10.3390/life15030345</a:t>
            </a:r>
            <a:endParaRPr lang="en-US" sz="1140">
              <a:solidFill>
                <a:schemeClr val="accent1"/>
              </a:solidFill>
              <a:latin typeface="+mj-lt"/>
            </a:endParaRPr>
          </a:p>
          <a:p>
            <a:pPr marL="136525" indent="-136525"/>
            <a:r>
              <a:rPr lang="en-US" sz="1140">
                <a:solidFill>
                  <a:schemeClr val="accent1"/>
                </a:solidFill>
                <a:latin typeface="+mj-lt"/>
              </a:rPr>
              <a:t>Riddle, J.,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Scimeca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J. M.,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Cellier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D., Dhanani, S., &amp;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D’Esposito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M. (2020). Causal Evidence for a Role of Theta and Alpha Oscillations in the Control of Working Memory, </a:t>
            </a:r>
            <a:r>
              <a:rPr lang="en-US" sz="1140" i="1">
                <a:solidFill>
                  <a:schemeClr val="accent1"/>
                </a:solidFill>
                <a:latin typeface="+mj-lt"/>
              </a:rPr>
              <a:t>Current Biology, 30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(9), 1748-1754. </a:t>
            </a:r>
            <a:r>
              <a:rPr lang="en-US" sz="1140">
                <a:solidFill>
                  <a:schemeClr val="accent1"/>
                </a:solidFill>
                <a:latin typeface="+mj-lt"/>
                <a:hlinkClick r:id="rId5"/>
              </a:rPr>
              <a:t>https://doi.org/10.1016/j.cub.2020.02.065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  </a:t>
            </a:r>
          </a:p>
          <a:p>
            <a:pPr marL="136525" indent="-136525"/>
            <a:r>
              <a:rPr lang="en-US" sz="1140">
                <a:solidFill>
                  <a:schemeClr val="accent1"/>
                </a:solidFill>
                <a:latin typeface="+mj-lt"/>
              </a:rPr>
              <a:t>van der </a:t>
            </a:r>
            <a:r>
              <a:rPr lang="en-US" sz="1140" err="1">
                <a:solidFill>
                  <a:schemeClr val="accent1"/>
                </a:solidFill>
                <a:latin typeface="+mj-lt"/>
              </a:rPr>
              <a:t>Weel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F. R. R., &amp; van der Meer, A. L. H. (2024). Handwriting but not typewriting leads to widespread brain connectivity: a high-density EEG study with implications for the classroom</a:t>
            </a:r>
            <a:r>
              <a:rPr lang="en-US" sz="1140" i="1">
                <a:solidFill>
                  <a:schemeClr val="accent1"/>
                </a:solidFill>
                <a:latin typeface="+mj-lt"/>
              </a:rPr>
              <a:t>. Frontiers in psychology, 14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, 1219945. </a:t>
            </a:r>
            <a:r>
              <a:rPr lang="en-US" sz="1140">
                <a:solidFill>
                  <a:schemeClr val="accent1"/>
                </a:solidFill>
                <a:latin typeface="+mj-lt"/>
                <a:hlinkClick r:id="rId6"/>
              </a:rPr>
              <a:t>https://doi.org/10.3389/fpsyg.2023.1219945</a:t>
            </a:r>
            <a:r>
              <a:rPr lang="en-US" sz="114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3F5949-378E-6445-A7F9-2F85AF16DD02}"/>
              </a:ext>
            </a:extLst>
          </p:cNvPr>
          <p:cNvGrpSpPr/>
          <p:nvPr/>
        </p:nvGrpSpPr>
        <p:grpSpPr>
          <a:xfrm>
            <a:off x="292994" y="5966155"/>
            <a:ext cx="8213928" cy="1406629"/>
            <a:chOff x="2284941" y="5557888"/>
            <a:chExt cx="8213928" cy="1406629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317B3A4-9845-6346-90FD-EF1C7479DD30}"/>
                </a:ext>
              </a:extLst>
            </p:cNvPr>
            <p:cNvSpPr/>
            <p:nvPr/>
          </p:nvSpPr>
          <p:spPr>
            <a:xfrm>
              <a:off x="2284941" y="5557888"/>
              <a:ext cx="2020946" cy="448099"/>
            </a:xfrm>
            <a:custGeom>
              <a:avLst/>
              <a:gdLst>
                <a:gd name="connsiteX0" fmla="*/ 0 w 2131595"/>
                <a:gd name="connsiteY0" fmla="*/ 0 h 636109"/>
                <a:gd name="connsiteX1" fmla="*/ 1813541 w 2131595"/>
                <a:gd name="connsiteY1" fmla="*/ 0 h 636109"/>
                <a:gd name="connsiteX2" fmla="*/ 2131595 w 2131595"/>
                <a:gd name="connsiteY2" fmla="*/ 318055 h 636109"/>
                <a:gd name="connsiteX3" fmla="*/ 1813541 w 2131595"/>
                <a:gd name="connsiteY3" fmla="*/ 636109 h 636109"/>
                <a:gd name="connsiteX4" fmla="*/ 0 w 2131595"/>
                <a:gd name="connsiteY4" fmla="*/ 636109 h 636109"/>
                <a:gd name="connsiteX5" fmla="*/ 318055 w 2131595"/>
                <a:gd name="connsiteY5" fmla="*/ 318055 h 636109"/>
                <a:gd name="connsiteX6" fmla="*/ 0 w 2131595"/>
                <a:gd name="connsiteY6" fmla="*/ 0 h 636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31595" h="636109">
                  <a:moveTo>
                    <a:pt x="0" y="0"/>
                  </a:moveTo>
                  <a:lnTo>
                    <a:pt x="1813541" y="0"/>
                  </a:lnTo>
                  <a:lnTo>
                    <a:pt x="2131595" y="318055"/>
                  </a:lnTo>
                  <a:lnTo>
                    <a:pt x="1813541" y="636109"/>
                  </a:lnTo>
                  <a:lnTo>
                    <a:pt x="0" y="636109"/>
                  </a:lnTo>
                  <a:lnTo>
                    <a:pt x="318055" y="318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8065" tIns="26670" rIns="344724" bIns="26670" numCol="1" spcCol="1270" anchor="ctr" anchorCtr="0">
              <a:noAutofit/>
            </a:bodyPr>
            <a:lstStyle/>
            <a:p>
              <a:pPr marL="0" lvl="0" indent="0" algn="ctr" defTabSz="8890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latin typeface="+mj-lt"/>
                </a:rPr>
                <a:t>Handwriting</a:t>
              </a: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9B85299-4B88-CB4C-859C-7717C58CE988}"/>
                </a:ext>
              </a:extLst>
            </p:cNvPr>
            <p:cNvSpPr/>
            <p:nvPr/>
          </p:nvSpPr>
          <p:spPr>
            <a:xfrm>
              <a:off x="2701201" y="6039271"/>
              <a:ext cx="4141131" cy="918000"/>
            </a:xfrm>
            <a:custGeom>
              <a:avLst/>
              <a:gdLst>
                <a:gd name="connsiteX0" fmla="*/ 0 w 4141131"/>
                <a:gd name="connsiteY0" fmla="*/ 0 h 918000"/>
                <a:gd name="connsiteX1" fmla="*/ 4141131 w 4141131"/>
                <a:gd name="connsiteY1" fmla="*/ 0 h 918000"/>
                <a:gd name="connsiteX2" fmla="*/ 4141131 w 4141131"/>
                <a:gd name="connsiteY2" fmla="*/ 918000 h 918000"/>
                <a:gd name="connsiteX3" fmla="*/ 0 w 4141131"/>
                <a:gd name="connsiteY3" fmla="*/ 918000 h 918000"/>
                <a:gd name="connsiteX4" fmla="*/ 0 w 4141131"/>
                <a:gd name="connsiteY4" fmla="*/ 0 h 91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1131" h="918000">
                  <a:moveTo>
                    <a:pt x="0" y="0"/>
                  </a:moveTo>
                  <a:lnTo>
                    <a:pt x="4141131" y="0"/>
                  </a:lnTo>
                  <a:lnTo>
                    <a:pt x="4141131" y="918000"/>
                  </a:lnTo>
                  <a:lnTo>
                    <a:pt x="0" y="918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 i="1" kern="1200">
                  <a:solidFill>
                    <a:schemeClr val="accent1"/>
                  </a:solidFill>
                </a:rPr>
                <a:t>Modality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9EE68BE4-DF22-514D-B0D7-E6FA2A1712A0}"/>
                    </a:ext>
                  </a:extLst>
                </p:cNvPr>
                <p:cNvSpPr/>
                <p:nvPr/>
              </p:nvSpPr>
              <p:spPr>
                <a:xfrm>
                  <a:off x="4001401" y="5557888"/>
                  <a:ext cx="2259159" cy="448099"/>
                </a:xfrm>
                <a:custGeom>
                  <a:avLst/>
                  <a:gdLst>
                    <a:gd name="connsiteX0" fmla="*/ 0 w 2131181"/>
                    <a:gd name="connsiteY0" fmla="*/ 0 h 564801"/>
                    <a:gd name="connsiteX1" fmla="*/ 1848781 w 2131181"/>
                    <a:gd name="connsiteY1" fmla="*/ 0 h 564801"/>
                    <a:gd name="connsiteX2" fmla="*/ 2131181 w 2131181"/>
                    <a:gd name="connsiteY2" fmla="*/ 282401 h 564801"/>
                    <a:gd name="connsiteX3" fmla="*/ 1848781 w 2131181"/>
                    <a:gd name="connsiteY3" fmla="*/ 564801 h 564801"/>
                    <a:gd name="connsiteX4" fmla="*/ 0 w 2131181"/>
                    <a:gd name="connsiteY4" fmla="*/ 564801 h 564801"/>
                    <a:gd name="connsiteX5" fmla="*/ 282401 w 2131181"/>
                    <a:gd name="connsiteY5" fmla="*/ 282401 h 564801"/>
                    <a:gd name="connsiteX6" fmla="*/ 0 w 2131181"/>
                    <a:gd name="connsiteY6" fmla="*/ 0 h 564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31181" h="564801">
                      <a:moveTo>
                        <a:pt x="0" y="0"/>
                      </a:moveTo>
                      <a:lnTo>
                        <a:pt x="1848781" y="0"/>
                      </a:lnTo>
                      <a:lnTo>
                        <a:pt x="2131181" y="282401"/>
                      </a:lnTo>
                      <a:lnTo>
                        <a:pt x="1848781" y="564801"/>
                      </a:lnTo>
                      <a:lnTo>
                        <a:pt x="0" y="564801"/>
                      </a:lnTo>
                      <a:lnTo>
                        <a:pt x="282401" y="28240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358411" tIns="25337" rIns="307737" bIns="25337" numCol="1" spcCol="1270" anchor="ctr" anchorCtr="0">
                  <a:noAutofit/>
                </a:bodyPr>
                <a:lstStyle/>
                <a:p>
                  <a:pPr marL="0" lvl="0" indent="0" algn="ctr" defTabSz="844550"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 xmlns:m="http://schemas.openxmlformats.org/officeDocument/2006/math">
                      <m:r>
                        <a:rPr lang="en-US" sz="2000" i="1" kern="12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a14:m>
                  <a:r>
                    <a:rPr lang="en-US" sz="2000" kern="1200">
                      <a:latin typeface="+mj-lt"/>
                    </a:rPr>
                    <a:t>Theta </a:t>
                  </a:r>
                  <a14:m>
                    <m:oMath xmlns:m="http://schemas.openxmlformats.org/officeDocument/2006/math">
                      <m:r>
                        <a:rPr lang="en-US" sz="2000" i="1" kern="12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a14:m>
                  <a:r>
                    <a:rPr lang="en-US" sz="2000" kern="1200">
                      <a:latin typeface="+mj-lt"/>
                    </a:rPr>
                    <a:t>Alpha</a:t>
                  </a:r>
                </a:p>
              </p:txBody>
            </p:sp>
          </mc:Choice>
          <mc:Fallback xmlns=""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9EE68BE4-DF22-514D-B0D7-E6FA2A1712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401" y="5557888"/>
                  <a:ext cx="2259159" cy="448099"/>
                </a:xfrm>
                <a:custGeom>
                  <a:avLst/>
                  <a:gdLst>
                    <a:gd name="connsiteX0" fmla="*/ 0 w 2131181"/>
                    <a:gd name="connsiteY0" fmla="*/ 0 h 564801"/>
                    <a:gd name="connsiteX1" fmla="*/ 1848781 w 2131181"/>
                    <a:gd name="connsiteY1" fmla="*/ 0 h 564801"/>
                    <a:gd name="connsiteX2" fmla="*/ 2131181 w 2131181"/>
                    <a:gd name="connsiteY2" fmla="*/ 282401 h 564801"/>
                    <a:gd name="connsiteX3" fmla="*/ 1848781 w 2131181"/>
                    <a:gd name="connsiteY3" fmla="*/ 564801 h 564801"/>
                    <a:gd name="connsiteX4" fmla="*/ 0 w 2131181"/>
                    <a:gd name="connsiteY4" fmla="*/ 564801 h 564801"/>
                    <a:gd name="connsiteX5" fmla="*/ 282401 w 2131181"/>
                    <a:gd name="connsiteY5" fmla="*/ 282401 h 564801"/>
                    <a:gd name="connsiteX6" fmla="*/ 0 w 2131181"/>
                    <a:gd name="connsiteY6" fmla="*/ 0 h 564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31181" h="564801">
                      <a:moveTo>
                        <a:pt x="0" y="0"/>
                      </a:moveTo>
                      <a:lnTo>
                        <a:pt x="1848781" y="0"/>
                      </a:lnTo>
                      <a:lnTo>
                        <a:pt x="2131181" y="282401"/>
                      </a:lnTo>
                      <a:lnTo>
                        <a:pt x="1848781" y="564801"/>
                      </a:lnTo>
                      <a:lnTo>
                        <a:pt x="0" y="564801"/>
                      </a:lnTo>
                      <a:lnTo>
                        <a:pt x="282401" y="28240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7"/>
                  <a:stretch>
                    <a:fillRect t="-2703" b="-135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5ABEDE7-314F-1D4C-8CAA-125E833F418D}"/>
                </a:ext>
              </a:extLst>
            </p:cNvPr>
            <p:cNvSpPr/>
            <p:nvPr/>
          </p:nvSpPr>
          <p:spPr>
            <a:xfrm>
              <a:off x="4287484" y="6039271"/>
              <a:ext cx="4141131" cy="918000"/>
            </a:xfrm>
            <a:custGeom>
              <a:avLst/>
              <a:gdLst>
                <a:gd name="connsiteX0" fmla="*/ 0 w 4141131"/>
                <a:gd name="connsiteY0" fmla="*/ 0 h 918000"/>
                <a:gd name="connsiteX1" fmla="*/ 4141131 w 4141131"/>
                <a:gd name="connsiteY1" fmla="*/ 0 h 918000"/>
                <a:gd name="connsiteX2" fmla="*/ 4141131 w 4141131"/>
                <a:gd name="connsiteY2" fmla="*/ 918000 h 918000"/>
                <a:gd name="connsiteX3" fmla="*/ 0 w 4141131"/>
                <a:gd name="connsiteY3" fmla="*/ 918000 h 918000"/>
                <a:gd name="connsiteX4" fmla="*/ 0 w 4141131"/>
                <a:gd name="connsiteY4" fmla="*/ 0 h 91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1131" h="918000">
                  <a:moveTo>
                    <a:pt x="0" y="0"/>
                  </a:moveTo>
                  <a:lnTo>
                    <a:pt x="4141131" y="0"/>
                  </a:lnTo>
                  <a:lnTo>
                    <a:pt x="4141131" y="918000"/>
                  </a:lnTo>
                  <a:lnTo>
                    <a:pt x="0" y="918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 i="1" kern="1200">
                  <a:solidFill>
                    <a:schemeClr val="accent1"/>
                  </a:solidFill>
                </a:rPr>
                <a:t>Parietal activity</a:t>
              </a: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9AA027-6585-2E43-ABF3-ABA0FB823C25}"/>
                </a:ext>
              </a:extLst>
            </p:cNvPr>
            <p:cNvSpPr/>
            <p:nvPr/>
          </p:nvSpPr>
          <p:spPr>
            <a:xfrm>
              <a:off x="6357738" y="6046517"/>
              <a:ext cx="4141131" cy="918000"/>
            </a:xfrm>
            <a:custGeom>
              <a:avLst/>
              <a:gdLst>
                <a:gd name="connsiteX0" fmla="*/ 0 w 4141131"/>
                <a:gd name="connsiteY0" fmla="*/ 0 h 918000"/>
                <a:gd name="connsiteX1" fmla="*/ 4141131 w 4141131"/>
                <a:gd name="connsiteY1" fmla="*/ 0 h 918000"/>
                <a:gd name="connsiteX2" fmla="*/ 4141131 w 4141131"/>
                <a:gd name="connsiteY2" fmla="*/ 918000 h 918000"/>
                <a:gd name="connsiteX3" fmla="*/ 0 w 4141131"/>
                <a:gd name="connsiteY3" fmla="*/ 918000 h 918000"/>
                <a:gd name="connsiteX4" fmla="*/ 0 w 4141131"/>
                <a:gd name="connsiteY4" fmla="*/ 0 h 91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1131" h="918000">
                  <a:moveTo>
                    <a:pt x="0" y="0"/>
                  </a:moveTo>
                  <a:lnTo>
                    <a:pt x="4141131" y="0"/>
                  </a:lnTo>
                  <a:lnTo>
                    <a:pt x="4141131" y="918000"/>
                  </a:lnTo>
                  <a:lnTo>
                    <a:pt x="0" y="918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 i="1" kern="1200">
                  <a:solidFill>
                    <a:schemeClr val="accent1"/>
                  </a:solidFill>
                </a:rPr>
                <a:t>Effect</a:t>
              </a:r>
            </a:p>
          </p:txBody>
        </p:sp>
      </p:grpSp>
      <p:sp>
        <p:nvSpPr>
          <p:cNvPr id="34" name="Freeform 33">
            <a:extLst>
              <a:ext uri="{FF2B5EF4-FFF2-40B4-BE49-F238E27FC236}">
                <a16:creationId xmlns:a16="http://schemas.microsoft.com/office/drawing/2014/main" id="{8486D589-DC33-0947-8B15-6EEDF7AD64B0}"/>
              </a:ext>
            </a:extLst>
          </p:cNvPr>
          <p:cNvSpPr/>
          <p:nvPr/>
        </p:nvSpPr>
        <p:spPr>
          <a:xfrm>
            <a:off x="3943997" y="5966155"/>
            <a:ext cx="2492359" cy="448099"/>
          </a:xfrm>
          <a:custGeom>
            <a:avLst/>
            <a:gdLst>
              <a:gd name="connsiteX0" fmla="*/ 0 w 2131595"/>
              <a:gd name="connsiteY0" fmla="*/ 0 h 636109"/>
              <a:gd name="connsiteX1" fmla="*/ 1813541 w 2131595"/>
              <a:gd name="connsiteY1" fmla="*/ 0 h 636109"/>
              <a:gd name="connsiteX2" fmla="*/ 2131595 w 2131595"/>
              <a:gd name="connsiteY2" fmla="*/ 318055 h 636109"/>
              <a:gd name="connsiteX3" fmla="*/ 1813541 w 2131595"/>
              <a:gd name="connsiteY3" fmla="*/ 636109 h 636109"/>
              <a:gd name="connsiteX4" fmla="*/ 0 w 2131595"/>
              <a:gd name="connsiteY4" fmla="*/ 636109 h 636109"/>
              <a:gd name="connsiteX5" fmla="*/ 318055 w 2131595"/>
              <a:gd name="connsiteY5" fmla="*/ 318055 h 636109"/>
              <a:gd name="connsiteX6" fmla="*/ 0 w 2131595"/>
              <a:gd name="connsiteY6" fmla="*/ 0 h 63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1595" h="636109">
                <a:moveTo>
                  <a:pt x="0" y="0"/>
                </a:moveTo>
                <a:lnTo>
                  <a:pt x="1813541" y="0"/>
                </a:lnTo>
                <a:lnTo>
                  <a:pt x="2131595" y="318055"/>
                </a:lnTo>
                <a:lnTo>
                  <a:pt x="1813541" y="636109"/>
                </a:lnTo>
                <a:lnTo>
                  <a:pt x="0" y="636109"/>
                </a:lnTo>
                <a:lnTo>
                  <a:pt x="318055" y="3180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8065" tIns="26670" rIns="344724" bIns="26670" numCol="1" spcCol="1270" anchor="ctr" anchorCtr="0">
            <a:noAutofit/>
          </a:bodyPr>
          <a:lstStyle/>
          <a:p>
            <a:pPr marL="0" lvl="0" indent="0" algn="ctr" defTabSz="88900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>
                <a:latin typeface="+mj-lt"/>
              </a:rPr>
              <a:t>Optimal Learning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FFA874-99AC-7A44-BDC7-D4329950F1F0}"/>
              </a:ext>
            </a:extLst>
          </p:cNvPr>
          <p:cNvGrpSpPr/>
          <p:nvPr/>
        </p:nvGrpSpPr>
        <p:grpSpPr>
          <a:xfrm>
            <a:off x="175031" y="7365538"/>
            <a:ext cx="6227088" cy="1057319"/>
            <a:chOff x="2334608" y="5757159"/>
            <a:chExt cx="6227088" cy="105731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691B3C8-34F7-144F-9669-594A2F131F2D}"/>
                </a:ext>
              </a:extLst>
            </p:cNvPr>
            <p:cNvSpPr/>
            <p:nvPr/>
          </p:nvSpPr>
          <p:spPr>
            <a:xfrm>
              <a:off x="2334608" y="5757159"/>
              <a:ext cx="3514030" cy="375010"/>
            </a:xfrm>
            <a:custGeom>
              <a:avLst/>
              <a:gdLst>
                <a:gd name="connsiteX0" fmla="*/ 0 w 4315779"/>
                <a:gd name="connsiteY0" fmla="*/ 41717 h 333737"/>
                <a:gd name="connsiteX1" fmla="*/ 4148911 w 4315779"/>
                <a:gd name="connsiteY1" fmla="*/ 41717 h 333737"/>
                <a:gd name="connsiteX2" fmla="*/ 4148911 w 4315779"/>
                <a:gd name="connsiteY2" fmla="*/ 0 h 333737"/>
                <a:gd name="connsiteX3" fmla="*/ 4315779 w 4315779"/>
                <a:gd name="connsiteY3" fmla="*/ 166869 h 333737"/>
                <a:gd name="connsiteX4" fmla="*/ 4148911 w 4315779"/>
                <a:gd name="connsiteY4" fmla="*/ 333737 h 333737"/>
                <a:gd name="connsiteX5" fmla="*/ 4148911 w 4315779"/>
                <a:gd name="connsiteY5" fmla="*/ 292020 h 333737"/>
                <a:gd name="connsiteX6" fmla="*/ 0 w 4315779"/>
                <a:gd name="connsiteY6" fmla="*/ 292020 h 333737"/>
                <a:gd name="connsiteX7" fmla="*/ 0 w 4315779"/>
                <a:gd name="connsiteY7" fmla="*/ 41717 h 33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15779" h="333737">
                  <a:moveTo>
                    <a:pt x="0" y="41717"/>
                  </a:moveTo>
                  <a:lnTo>
                    <a:pt x="4148911" y="41717"/>
                  </a:lnTo>
                  <a:lnTo>
                    <a:pt x="4148911" y="0"/>
                  </a:lnTo>
                  <a:lnTo>
                    <a:pt x="4315779" y="166869"/>
                  </a:lnTo>
                  <a:lnTo>
                    <a:pt x="4148911" y="333737"/>
                  </a:lnTo>
                  <a:lnTo>
                    <a:pt x="4148911" y="292020"/>
                  </a:lnTo>
                  <a:lnTo>
                    <a:pt x="0" y="292020"/>
                  </a:lnTo>
                  <a:lnTo>
                    <a:pt x="0" y="41717"/>
                  </a:lnTo>
                  <a:close/>
                </a:path>
              </a:pathLst>
            </a:custGeom>
            <a:ln>
              <a:solidFill>
                <a:schemeClr val="accent4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54417" rIns="137851" bIns="54417" numCol="1" spcCol="1270" anchor="ctr" anchorCtr="0">
              <a:noAutofit/>
            </a:bodyPr>
            <a:lstStyle/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 kern="1200" baseline="0">
                  <a:solidFill>
                    <a:schemeClr val="accent6"/>
                  </a:solidFill>
                  <a:latin typeface="+mj-lt"/>
                </a:rPr>
                <a:t>Did not study adolescents</a:t>
              </a: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B25F442-6425-4F48-8F73-38B069625AD5}"/>
                </a:ext>
              </a:extLst>
            </p:cNvPr>
            <p:cNvSpPr/>
            <p:nvPr/>
          </p:nvSpPr>
          <p:spPr>
            <a:xfrm>
              <a:off x="5926602" y="5820527"/>
              <a:ext cx="2620621" cy="264987"/>
            </a:xfrm>
            <a:custGeom>
              <a:avLst/>
              <a:gdLst>
                <a:gd name="connsiteX0" fmla="*/ 0 w 3092917"/>
                <a:gd name="connsiteY0" fmla="*/ 51807 h 310836"/>
                <a:gd name="connsiteX1" fmla="*/ 51807 w 3092917"/>
                <a:gd name="connsiteY1" fmla="*/ 0 h 310836"/>
                <a:gd name="connsiteX2" fmla="*/ 3041110 w 3092917"/>
                <a:gd name="connsiteY2" fmla="*/ 0 h 310836"/>
                <a:gd name="connsiteX3" fmla="*/ 3092917 w 3092917"/>
                <a:gd name="connsiteY3" fmla="*/ 51807 h 310836"/>
                <a:gd name="connsiteX4" fmla="*/ 3092917 w 3092917"/>
                <a:gd name="connsiteY4" fmla="*/ 259029 h 310836"/>
                <a:gd name="connsiteX5" fmla="*/ 3041110 w 3092917"/>
                <a:gd name="connsiteY5" fmla="*/ 310836 h 310836"/>
                <a:gd name="connsiteX6" fmla="*/ 51807 w 3092917"/>
                <a:gd name="connsiteY6" fmla="*/ 310836 h 310836"/>
                <a:gd name="connsiteX7" fmla="*/ 0 w 3092917"/>
                <a:gd name="connsiteY7" fmla="*/ 259029 h 310836"/>
                <a:gd name="connsiteX8" fmla="*/ 0 w 3092917"/>
                <a:gd name="connsiteY8" fmla="*/ 51807 h 31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92917" h="310836">
                  <a:moveTo>
                    <a:pt x="0" y="51807"/>
                  </a:moveTo>
                  <a:cubicBezTo>
                    <a:pt x="0" y="23195"/>
                    <a:pt x="23195" y="0"/>
                    <a:pt x="51807" y="0"/>
                  </a:cubicBezTo>
                  <a:lnTo>
                    <a:pt x="3041110" y="0"/>
                  </a:lnTo>
                  <a:cubicBezTo>
                    <a:pt x="3069722" y="0"/>
                    <a:pt x="3092917" y="23195"/>
                    <a:pt x="3092917" y="51807"/>
                  </a:cubicBezTo>
                  <a:lnTo>
                    <a:pt x="3092917" y="259029"/>
                  </a:lnTo>
                  <a:cubicBezTo>
                    <a:pt x="3092917" y="287641"/>
                    <a:pt x="3069722" y="310836"/>
                    <a:pt x="3041110" y="310836"/>
                  </a:cubicBezTo>
                  <a:lnTo>
                    <a:pt x="51807" y="310836"/>
                  </a:lnTo>
                  <a:cubicBezTo>
                    <a:pt x="23195" y="310836"/>
                    <a:pt x="0" y="287641"/>
                    <a:pt x="0" y="259029"/>
                  </a:cubicBezTo>
                  <a:lnTo>
                    <a:pt x="0" y="51807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174" tIns="51174" rIns="51174" bIns="51174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sz="2000" i="1" kern="1200" baseline="0">
                  <a:solidFill>
                    <a:schemeClr val="accent4"/>
                  </a:solidFill>
                  <a:latin typeface="+mj-lt"/>
                </a:rPr>
                <a:t>Gap in understanding</a:t>
              </a: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5CE4980-24F4-484F-A9D8-34058A3E0D80}"/>
                </a:ext>
              </a:extLst>
            </p:cNvPr>
            <p:cNvSpPr/>
            <p:nvPr/>
          </p:nvSpPr>
          <p:spPr>
            <a:xfrm>
              <a:off x="2337661" y="6083029"/>
              <a:ext cx="3654681" cy="388915"/>
            </a:xfrm>
            <a:custGeom>
              <a:avLst/>
              <a:gdLst>
                <a:gd name="connsiteX0" fmla="*/ 0 w 4917617"/>
                <a:gd name="connsiteY0" fmla="*/ 47327 h 378615"/>
                <a:gd name="connsiteX1" fmla="*/ 4728310 w 4917617"/>
                <a:gd name="connsiteY1" fmla="*/ 47327 h 378615"/>
                <a:gd name="connsiteX2" fmla="*/ 4728310 w 4917617"/>
                <a:gd name="connsiteY2" fmla="*/ 0 h 378615"/>
                <a:gd name="connsiteX3" fmla="*/ 4917617 w 4917617"/>
                <a:gd name="connsiteY3" fmla="*/ 189308 h 378615"/>
                <a:gd name="connsiteX4" fmla="*/ 4728310 w 4917617"/>
                <a:gd name="connsiteY4" fmla="*/ 378615 h 378615"/>
                <a:gd name="connsiteX5" fmla="*/ 4728310 w 4917617"/>
                <a:gd name="connsiteY5" fmla="*/ 331288 h 378615"/>
                <a:gd name="connsiteX6" fmla="*/ 0 w 4917617"/>
                <a:gd name="connsiteY6" fmla="*/ 331288 h 378615"/>
                <a:gd name="connsiteX7" fmla="*/ 0 w 4917617"/>
                <a:gd name="connsiteY7" fmla="*/ 47327 h 3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17617" h="378615">
                  <a:moveTo>
                    <a:pt x="0" y="47327"/>
                  </a:moveTo>
                  <a:lnTo>
                    <a:pt x="4728310" y="47327"/>
                  </a:lnTo>
                  <a:lnTo>
                    <a:pt x="4728310" y="0"/>
                  </a:lnTo>
                  <a:lnTo>
                    <a:pt x="4917617" y="189308"/>
                  </a:lnTo>
                  <a:lnTo>
                    <a:pt x="4728310" y="378615"/>
                  </a:lnTo>
                  <a:lnTo>
                    <a:pt x="4728310" y="331288"/>
                  </a:lnTo>
                  <a:lnTo>
                    <a:pt x="0" y="331288"/>
                  </a:lnTo>
                  <a:lnTo>
                    <a:pt x="0" y="47327"/>
                  </a:lnTo>
                  <a:close/>
                </a:path>
              </a:pathLst>
            </a:custGeom>
            <a:ln>
              <a:solidFill>
                <a:schemeClr val="accent4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60027" rIns="154681" bIns="60027" numCol="1" spcCol="1270" anchor="ctr" anchorCtr="0">
              <a:noAutofit/>
            </a:bodyPr>
            <a:lstStyle/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 kern="1200" baseline="0" dirty="0">
                  <a:solidFill>
                    <a:schemeClr val="accent6"/>
                  </a:solidFill>
                  <a:latin typeface="+mj-lt"/>
                </a:rPr>
                <a:t>Ignored pre-existing typing skills</a:t>
              </a: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3BEEF2A-D559-B649-94AD-C7BC3FAB92F6}"/>
                </a:ext>
              </a:extLst>
            </p:cNvPr>
            <p:cNvSpPr/>
            <p:nvPr/>
          </p:nvSpPr>
          <p:spPr>
            <a:xfrm>
              <a:off x="6054696" y="6153221"/>
              <a:ext cx="2492527" cy="263222"/>
            </a:xfrm>
            <a:custGeom>
              <a:avLst/>
              <a:gdLst>
                <a:gd name="connsiteX0" fmla="*/ 0 w 2519996"/>
                <a:gd name="connsiteY0" fmla="*/ 51807 h 310836"/>
                <a:gd name="connsiteX1" fmla="*/ 51807 w 2519996"/>
                <a:gd name="connsiteY1" fmla="*/ 0 h 310836"/>
                <a:gd name="connsiteX2" fmla="*/ 2468189 w 2519996"/>
                <a:gd name="connsiteY2" fmla="*/ 0 h 310836"/>
                <a:gd name="connsiteX3" fmla="*/ 2519996 w 2519996"/>
                <a:gd name="connsiteY3" fmla="*/ 51807 h 310836"/>
                <a:gd name="connsiteX4" fmla="*/ 2519996 w 2519996"/>
                <a:gd name="connsiteY4" fmla="*/ 259029 h 310836"/>
                <a:gd name="connsiteX5" fmla="*/ 2468189 w 2519996"/>
                <a:gd name="connsiteY5" fmla="*/ 310836 h 310836"/>
                <a:gd name="connsiteX6" fmla="*/ 51807 w 2519996"/>
                <a:gd name="connsiteY6" fmla="*/ 310836 h 310836"/>
                <a:gd name="connsiteX7" fmla="*/ 0 w 2519996"/>
                <a:gd name="connsiteY7" fmla="*/ 259029 h 310836"/>
                <a:gd name="connsiteX8" fmla="*/ 0 w 2519996"/>
                <a:gd name="connsiteY8" fmla="*/ 51807 h 31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9996" h="310836">
                  <a:moveTo>
                    <a:pt x="0" y="51807"/>
                  </a:moveTo>
                  <a:cubicBezTo>
                    <a:pt x="0" y="23195"/>
                    <a:pt x="23195" y="0"/>
                    <a:pt x="51807" y="0"/>
                  </a:cubicBezTo>
                  <a:lnTo>
                    <a:pt x="2468189" y="0"/>
                  </a:lnTo>
                  <a:cubicBezTo>
                    <a:pt x="2496801" y="0"/>
                    <a:pt x="2519996" y="23195"/>
                    <a:pt x="2519996" y="51807"/>
                  </a:cubicBezTo>
                  <a:lnTo>
                    <a:pt x="2519996" y="259029"/>
                  </a:lnTo>
                  <a:cubicBezTo>
                    <a:pt x="2519996" y="287641"/>
                    <a:pt x="2496801" y="310836"/>
                    <a:pt x="2468189" y="310836"/>
                  </a:cubicBezTo>
                  <a:lnTo>
                    <a:pt x="51807" y="310836"/>
                  </a:lnTo>
                  <a:cubicBezTo>
                    <a:pt x="23195" y="310836"/>
                    <a:pt x="0" y="287641"/>
                    <a:pt x="0" y="259029"/>
                  </a:cubicBezTo>
                  <a:lnTo>
                    <a:pt x="0" y="51807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74" tIns="53274" rIns="91374" bIns="53274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i="1" kern="1200" baseline="0">
                  <a:solidFill>
                    <a:schemeClr val="accent1"/>
                  </a:solidFill>
                  <a:latin typeface="+mj-lt"/>
                </a:rPr>
                <a:t>Confounding variable</a:t>
              </a: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AEE5CD7-B887-0C43-AA08-941B340AC38E}"/>
                </a:ext>
              </a:extLst>
            </p:cNvPr>
            <p:cNvSpPr/>
            <p:nvPr/>
          </p:nvSpPr>
          <p:spPr>
            <a:xfrm>
              <a:off x="7136043" y="6487986"/>
              <a:ext cx="1425653" cy="286935"/>
            </a:xfrm>
            <a:custGeom>
              <a:avLst/>
              <a:gdLst>
                <a:gd name="connsiteX0" fmla="*/ 0 w 3092917"/>
                <a:gd name="connsiteY0" fmla="*/ 51807 h 310836"/>
                <a:gd name="connsiteX1" fmla="*/ 51807 w 3092917"/>
                <a:gd name="connsiteY1" fmla="*/ 0 h 310836"/>
                <a:gd name="connsiteX2" fmla="*/ 3041110 w 3092917"/>
                <a:gd name="connsiteY2" fmla="*/ 0 h 310836"/>
                <a:gd name="connsiteX3" fmla="*/ 3092917 w 3092917"/>
                <a:gd name="connsiteY3" fmla="*/ 51807 h 310836"/>
                <a:gd name="connsiteX4" fmla="*/ 3092917 w 3092917"/>
                <a:gd name="connsiteY4" fmla="*/ 259029 h 310836"/>
                <a:gd name="connsiteX5" fmla="*/ 3041110 w 3092917"/>
                <a:gd name="connsiteY5" fmla="*/ 310836 h 310836"/>
                <a:gd name="connsiteX6" fmla="*/ 51807 w 3092917"/>
                <a:gd name="connsiteY6" fmla="*/ 310836 h 310836"/>
                <a:gd name="connsiteX7" fmla="*/ 0 w 3092917"/>
                <a:gd name="connsiteY7" fmla="*/ 259029 h 310836"/>
                <a:gd name="connsiteX8" fmla="*/ 0 w 3092917"/>
                <a:gd name="connsiteY8" fmla="*/ 51807 h 31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92917" h="310836">
                  <a:moveTo>
                    <a:pt x="0" y="51807"/>
                  </a:moveTo>
                  <a:cubicBezTo>
                    <a:pt x="0" y="23195"/>
                    <a:pt x="23195" y="0"/>
                    <a:pt x="51807" y="0"/>
                  </a:cubicBezTo>
                  <a:lnTo>
                    <a:pt x="3041110" y="0"/>
                  </a:lnTo>
                  <a:cubicBezTo>
                    <a:pt x="3069722" y="0"/>
                    <a:pt x="3092917" y="23195"/>
                    <a:pt x="3092917" y="51807"/>
                  </a:cubicBezTo>
                  <a:lnTo>
                    <a:pt x="3092917" y="259029"/>
                  </a:lnTo>
                  <a:cubicBezTo>
                    <a:pt x="3092917" y="287641"/>
                    <a:pt x="3069722" y="310836"/>
                    <a:pt x="3041110" y="310836"/>
                  </a:cubicBezTo>
                  <a:lnTo>
                    <a:pt x="51807" y="310836"/>
                  </a:lnTo>
                  <a:cubicBezTo>
                    <a:pt x="23195" y="310836"/>
                    <a:pt x="0" y="287641"/>
                    <a:pt x="0" y="259029"/>
                  </a:cubicBezTo>
                  <a:lnTo>
                    <a:pt x="0" y="51807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74" tIns="53274" rIns="91374" bIns="53274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i="1" kern="1200" baseline="0">
                  <a:solidFill>
                    <a:schemeClr val="accent1"/>
                  </a:solidFill>
                  <a:latin typeface="+mj-lt"/>
                </a:rPr>
                <a:t>Lab effect</a:t>
              </a: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6524F95-31C0-0944-9AD1-75AF2B8D6119}"/>
                </a:ext>
              </a:extLst>
            </p:cNvPr>
            <p:cNvSpPr/>
            <p:nvPr/>
          </p:nvSpPr>
          <p:spPr>
            <a:xfrm>
              <a:off x="2337661" y="6424120"/>
              <a:ext cx="4798382" cy="390358"/>
            </a:xfrm>
            <a:custGeom>
              <a:avLst/>
              <a:gdLst>
                <a:gd name="connsiteX0" fmla="*/ 0 w 4342734"/>
                <a:gd name="connsiteY0" fmla="*/ 41717 h 333737"/>
                <a:gd name="connsiteX1" fmla="*/ 4175866 w 4342734"/>
                <a:gd name="connsiteY1" fmla="*/ 41717 h 333737"/>
                <a:gd name="connsiteX2" fmla="*/ 4175866 w 4342734"/>
                <a:gd name="connsiteY2" fmla="*/ 0 h 333737"/>
                <a:gd name="connsiteX3" fmla="*/ 4342734 w 4342734"/>
                <a:gd name="connsiteY3" fmla="*/ 166869 h 333737"/>
                <a:gd name="connsiteX4" fmla="*/ 4175866 w 4342734"/>
                <a:gd name="connsiteY4" fmla="*/ 333737 h 333737"/>
                <a:gd name="connsiteX5" fmla="*/ 4175866 w 4342734"/>
                <a:gd name="connsiteY5" fmla="*/ 292020 h 333737"/>
                <a:gd name="connsiteX6" fmla="*/ 0 w 4342734"/>
                <a:gd name="connsiteY6" fmla="*/ 292020 h 333737"/>
                <a:gd name="connsiteX7" fmla="*/ 0 w 4342734"/>
                <a:gd name="connsiteY7" fmla="*/ 41717 h 33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42734" h="333737">
                  <a:moveTo>
                    <a:pt x="0" y="41717"/>
                  </a:moveTo>
                  <a:lnTo>
                    <a:pt x="4175866" y="41717"/>
                  </a:lnTo>
                  <a:lnTo>
                    <a:pt x="4175866" y="0"/>
                  </a:lnTo>
                  <a:lnTo>
                    <a:pt x="4342734" y="166869"/>
                  </a:lnTo>
                  <a:lnTo>
                    <a:pt x="4175866" y="333737"/>
                  </a:lnTo>
                  <a:lnTo>
                    <a:pt x="4175866" y="292020"/>
                  </a:lnTo>
                  <a:lnTo>
                    <a:pt x="0" y="292020"/>
                  </a:lnTo>
                  <a:lnTo>
                    <a:pt x="0" y="41717"/>
                  </a:lnTo>
                  <a:close/>
                </a:path>
              </a:pathLst>
            </a:cu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54417" rIns="137851" bIns="54417" numCol="1" spcCol="1270" anchor="ctr" anchorCtr="0">
              <a:noAutofit/>
            </a:bodyPr>
            <a:lstStyle/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>
                  <a:solidFill>
                    <a:schemeClr val="accent6"/>
                  </a:solidFill>
                  <a:latin typeface="+mj-lt"/>
                </a:rPr>
                <a:t>Required participants to type with one finger</a:t>
              </a:r>
              <a:endParaRPr lang="en-US" sz="2000" kern="1200" baseline="0">
                <a:solidFill>
                  <a:schemeClr val="accent6"/>
                </a:solidFill>
                <a:latin typeface="+mj-lt"/>
              </a:endParaRPr>
            </a:p>
          </p:txBody>
        </p:sp>
      </p:grpSp>
      <p:sp>
        <p:nvSpPr>
          <p:cNvPr id="41" name="Freeform 40">
            <a:extLst>
              <a:ext uri="{FF2B5EF4-FFF2-40B4-BE49-F238E27FC236}">
                <a16:creationId xmlns:a16="http://schemas.microsoft.com/office/drawing/2014/main" id="{DCC6D7FD-3AA6-DD4C-9116-B201B92F4233}"/>
              </a:ext>
            </a:extLst>
          </p:cNvPr>
          <p:cNvSpPr/>
          <p:nvPr/>
        </p:nvSpPr>
        <p:spPr>
          <a:xfrm>
            <a:off x="6785479" y="3371065"/>
            <a:ext cx="1771962" cy="1201877"/>
          </a:xfrm>
          <a:custGeom>
            <a:avLst/>
            <a:gdLst>
              <a:gd name="connsiteX0" fmla="*/ 0 w 3411708"/>
              <a:gd name="connsiteY0" fmla="*/ 0 h 660369"/>
              <a:gd name="connsiteX1" fmla="*/ 3411708 w 3411708"/>
              <a:gd name="connsiteY1" fmla="*/ 0 h 660369"/>
              <a:gd name="connsiteX2" fmla="*/ 3411708 w 3411708"/>
              <a:gd name="connsiteY2" fmla="*/ 660369 h 660369"/>
              <a:gd name="connsiteX3" fmla="*/ 0 w 3411708"/>
              <a:gd name="connsiteY3" fmla="*/ 660369 h 660369"/>
              <a:gd name="connsiteX4" fmla="*/ 0 w 3411708"/>
              <a:gd name="connsiteY4" fmla="*/ 0 h 66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708" h="660369">
                <a:moveTo>
                  <a:pt x="0" y="0"/>
                </a:moveTo>
                <a:lnTo>
                  <a:pt x="3411708" y="0"/>
                </a:lnTo>
                <a:lnTo>
                  <a:pt x="3411708" y="660369"/>
                </a:lnTo>
                <a:lnTo>
                  <a:pt x="0" y="66036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>
                <a:latin typeface="+mj-lt"/>
              </a:rPr>
              <a:t>Fit HD-EEG GSN and seat participants in workspace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70643BEA-2259-BC4F-8E7E-2C233083611E}"/>
              </a:ext>
            </a:extLst>
          </p:cNvPr>
          <p:cNvSpPr/>
          <p:nvPr/>
        </p:nvSpPr>
        <p:spPr>
          <a:xfrm>
            <a:off x="9368407" y="2928326"/>
            <a:ext cx="2583301" cy="907316"/>
          </a:xfrm>
          <a:custGeom>
            <a:avLst/>
            <a:gdLst>
              <a:gd name="connsiteX0" fmla="*/ 0 w 3411894"/>
              <a:gd name="connsiteY0" fmla="*/ 0 h 660369"/>
              <a:gd name="connsiteX1" fmla="*/ 3411894 w 3411894"/>
              <a:gd name="connsiteY1" fmla="*/ 0 h 660369"/>
              <a:gd name="connsiteX2" fmla="*/ 3411894 w 3411894"/>
              <a:gd name="connsiteY2" fmla="*/ 660369 h 660369"/>
              <a:gd name="connsiteX3" fmla="*/ 0 w 3411894"/>
              <a:gd name="connsiteY3" fmla="*/ 660369 h 660369"/>
              <a:gd name="connsiteX4" fmla="*/ 0 w 3411894"/>
              <a:gd name="connsiteY4" fmla="*/ 0 h 66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894" h="660369">
                <a:moveTo>
                  <a:pt x="0" y="0"/>
                </a:moveTo>
                <a:lnTo>
                  <a:pt x="3411894" y="0"/>
                </a:lnTo>
                <a:lnTo>
                  <a:pt x="3411894" y="660369"/>
                </a:lnTo>
                <a:lnTo>
                  <a:pt x="0" y="66036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>
                <a:latin typeface="+mj-lt"/>
              </a:rPr>
              <a:t>One-minute GCSE Biology audio podcast excerpt played.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A9C0257B-C7D9-C84B-945D-B4DA47C82288}"/>
              </a:ext>
            </a:extLst>
          </p:cNvPr>
          <p:cNvSpPr/>
          <p:nvPr/>
        </p:nvSpPr>
        <p:spPr>
          <a:xfrm>
            <a:off x="9376081" y="3942038"/>
            <a:ext cx="2575627" cy="843783"/>
          </a:xfrm>
          <a:custGeom>
            <a:avLst/>
            <a:gdLst>
              <a:gd name="connsiteX0" fmla="*/ 0 w 3411894"/>
              <a:gd name="connsiteY0" fmla="*/ 0 h 660369"/>
              <a:gd name="connsiteX1" fmla="*/ 3411894 w 3411894"/>
              <a:gd name="connsiteY1" fmla="*/ 0 h 660369"/>
              <a:gd name="connsiteX2" fmla="*/ 3411894 w 3411894"/>
              <a:gd name="connsiteY2" fmla="*/ 660369 h 660369"/>
              <a:gd name="connsiteX3" fmla="*/ 0 w 3411894"/>
              <a:gd name="connsiteY3" fmla="*/ 660369 h 660369"/>
              <a:gd name="connsiteX4" fmla="*/ 0 w 3411894"/>
              <a:gd name="connsiteY4" fmla="*/ 0 h 66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894" h="660369">
                <a:moveTo>
                  <a:pt x="0" y="0"/>
                </a:moveTo>
                <a:lnTo>
                  <a:pt x="3411894" y="0"/>
                </a:lnTo>
                <a:lnTo>
                  <a:pt x="3411894" y="660369"/>
                </a:lnTo>
                <a:lnTo>
                  <a:pt x="0" y="66036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>
                <a:latin typeface="+mj-lt"/>
              </a:rPr>
              <a:t>Participants naturally </a:t>
            </a:r>
            <a:r>
              <a:rPr lang="en-US" sz="2000" kern="1200" err="1">
                <a:latin typeface="+mj-lt"/>
              </a:rPr>
              <a:t>summarise</a:t>
            </a:r>
            <a:r>
              <a:rPr lang="en-US" sz="2000" kern="1200">
                <a:latin typeface="+mj-lt"/>
              </a:rPr>
              <a:t> content (handwritten/typed).</a:t>
            </a: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12ED6E86-9F71-FB41-8FF5-8713FAD8D6F3}"/>
              </a:ext>
            </a:extLst>
          </p:cNvPr>
          <p:cNvSpPr/>
          <p:nvPr/>
        </p:nvSpPr>
        <p:spPr>
          <a:xfrm>
            <a:off x="12795927" y="3001310"/>
            <a:ext cx="2020490" cy="1756122"/>
          </a:xfrm>
          <a:custGeom>
            <a:avLst/>
            <a:gdLst>
              <a:gd name="connsiteX0" fmla="*/ 0 w 3411894"/>
              <a:gd name="connsiteY0" fmla="*/ 0 h 660369"/>
              <a:gd name="connsiteX1" fmla="*/ 3411894 w 3411894"/>
              <a:gd name="connsiteY1" fmla="*/ 0 h 660369"/>
              <a:gd name="connsiteX2" fmla="*/ 3411894 w 3411894"/>
              <a:gd name="connsiteY2" fmla="*/ 660369 h 660369"/>
              <a:gd name="connsiteX3" fmla="*/ 0 w 3411894"/>
              <a:gd name="connsiteY3" fmla="*/ 660369 h 660369"/>
              <a:gd name="connsiteX4" fmla="*/ 0 w 3411894"/>
              <a:gd name="connsiteY4" fmla="*/ 0 h 66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1894" h="660369">
                <a:moveTo>
                  <a:pt x="0" y="0"/>
                </a:moveTo>
                <a:lnTo>
                  <a:pt x="3411894" y="0"/>
                </a:lnTo>
                <a:lnTo>
                  <a:pt x="3411894" y="660369"/>
                </a:lnTo>
                <a:lnTo>
                  <a:pt x="0" y="66036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>
                <a:latin typeface="+mj-lt"/>
              </a:rPr>
              <a:t>Data compared between groups, focused on alpha/theta  oscillations in parietal regions</a:t>
            </a:r>
            <a:endParaRPr lang="en-US" sz="2000" kern="1200">
              <a:latin typeface="+mj-lt"/>
            </a:endParaRPr>
          </a:p>
        </p:txBody>
      </p:sp>
      <p:sp>
        <p:nvSpPr>
          <p:cNvPr id="46" name="Curved Right Arrow 45">
            <a:extLst>
              <a:ext uri="{FF2B5EF4-FFF2-40B4-BE49-F238E27FC236}">
                <a16:creationId xmlns:a16="http://schemas.microsoft.com/office/drawing/2014/main" id="{23FDCF65-14B7-B84A-AD44-B413866C0EA5}"/>
              </a:ext>
            </a:extLst>
          </p:cNvPr>
          <p:cNvSpPr/>
          <p:nvPr/>
        </p:nvSpPr>
        <p:spPr>
          <a:xfrm>
            <a:off x="8649255" y="3020190"/>
            <a:ext cx="855835" cy="1790440"/>
          </a:xfrm>
          <a:prstGeom prst="curvedRightArrow">
            <a:avLst/>
          </a:prstGeom>
          <a:solidFill>
            <a:schemeClr val="accent2">
              <a:alpha val="78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7" name="Curved Right Arrow 46">
            <a:extLst>
              <a:ext uri="{FF2B5EF4-FFF2-40B4-BE49-F238E27FC236}">
                <a16:creationId xmlns:a16="http://schemas.microsoft.com/office/drawing/2014/main" id="{6B05AA55-A06F-9C40-9868-BE66BFBCDEDE}"/>
              </a:ext>
            </a:extLst>
          </p:cNvPr>
          <p:cNvSpPr/>
          <p:nvPr/>
        </p:nvSpPr>
        <p:spPr>
          <a:xfrm rot="10800000">
            <a:off x="11872627" y="2928326"/>
            <a:ext cx="855835" cy="1829106"/>
          </a:xfrm>
          <a:prstGeom prst="curvedRightArrow">
            <a:avLst/>
          </a:prstGeom>
          <a:solidFill>
            <a:schemeClr val="accent2">
              <a:alpha val="78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CA50E4F4-D66E-5743-9D00-F575D351D2F9}"/>
              </a:ext>
            </a:extLst>
          </p:cNvPr>
          <p:cNvSpPr/>
          <p:nvPr/>
        </p:nvSpPr>
        <p:spPr>
          <a:xfrm flipV="1">
            <a:off x="8558104" y="3874917"/>
            <a:ext cx="882791" cy="45719"/>
          </a:xfrm>
          <a:custGeom>
            <a:avLst/>
            <a:gdLst>
              <a:gd name="connsiteX0" fmla="*/ 0 w 282738"/>
              <a:gd name="connsiteY0" fmla="*/ 51543 h 91440"/>
              <a:gd name="connsiteX1" fmla="*/ 158469 w 282738"/>
              <a:gd name="connsiteY1" fmla="*/ 51543 h 91440"/>
              <a:gd name="connsiteX2" fmla="*/ 158469 w 282738"/>
              <a:gd name="connsiteY2" fmla="*/ 45720 h 91440"/>
              <a:gd name="connsiteX3" fmla="*/ 282738 w 282738"/>
              <a:gd name="connsiteY3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738" h="91440">
                <a:moveTo>
                  <a:pt x="0" y="51543"/>
                </a:moveTo>
                <a:lnTo>
                  <a:pt x="158469" y="51543"/>
                </a:lnTo>
                <a:lnTo>
                  <a:pt x="158469" y="45720"/>
                </a:lnTo>
                <a:lnTo>
                  <a:pt x="282738" y="45720"/>
                </a:lnTo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  <a:ln w="63500"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6234" tIns="44189" rIns="146235" bIns="44191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B352F036-87A2-1842-B0DC-494675A242DE}"/>
              </a:ext>
            </a:extLst>
          </p:cNvPr>
          <p:cNvSpPr/>
          <p:nvPr/>
        </p:nvSpPr>
        <p:spPr>
          <a:xfrm flipV="1">
            <a:off x="11945116" y="3865980"/>
            <a:ext cx="882791" cy="45719"/>
          </a:xfrm>
          <a:custGeom>
            <a:avLst/>
            <a:gdLst>
              <a:gd name="connsiteX0" fmla="*/ 0 w 282738"/>
              <a:gd name="connsiteY0" fmla="*/ 51543 h 91440"/>
              <a:gd name="connsiteX1" fmla="*/ 158469 w 282738"/>
              <a:gd name="connsiteY1" fmla="*/ 51543 h 91440"/>
              <a:gd name="connsiteX2" fmla="*/ 158469 w 282738"/>
              <a:gd name="connsiteY2" fmla="*/ 45720 h 91440"/>
              <a:gd name="connsiteX3" fmla="*/ 282738 w 282738"/>
              <a:gd name="connsiteY3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738" h="91440">
                <a:moveTo>
                  <a:pt x="0" y="51543"/>
                </a:moveTo>
                <a:lnTo>
                  <a:pt x="158469" y="51543"/>
                </a:lnTo>
                <a:lnTo>
                  <a:pt x="158469" y="45720"/>
                </a:lnTo>
                <a:lnTo>
                  <a:pt x="282738" y="45720"/>
                </a:lnTo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  <a:ln w="63500"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6234" tIns="44189" rIns="146235" bIns="44191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AF83B5C8-505C-E14E-91F1-E3D7363281AA}"/>
              </a:ext>
            </a:extLst>
          </p:cNvPr>
          <p:cNvSpPr/>
          <p:nvPr/>
        </p:nvSpPr>
        <p:spPr>
          <a:xfrm>
            <a:off x="9696645" y="4695446"/>
            <a:ext cx="1926823" cy="492843"/>
          </a:xfrm>
          <a:custGeom>
            <a:avLst/>
            <a:gdLst>
              <a:gd name="connsiteX0" fmla="*/ 0 w 1904929"/>
              <a:gd name="connsiteY0" fmla="*/ 0 h 599773"/>
              <a:gd name="connsiteX1" fmla="*/ 1904929 w 1904929"/>
              <a:gd name="connsiteY1" fmla="*/ 0 h 599773"/>
              <a:gd name="connsiteX2" fmla="*/ 1904929 w 1904929"/>
              <a:gd name="connsiteY2" fmla="*/ 599773 h 599773"/>
              <a:gd name="connsiteX3" fmla="*/ 0 w 1904929"/>
              <a:gd name="connsiteY3" fmla="*/ 599773 h 599773"/>
              <a:gd name="connsiteX4" fmla="*/ 0 w 1904929"/>
              <a:gd name="connsiteY4" fmla="*/ 0 h 59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4929" h="599773">
                <a:moveTo>
                  <a:pt x="0" y="0"/>
                </a:moveTo>
                <a:lnTo>
                  <a:pt x="1904929" y="0"/>
                </a:lnTo>
                <a:lnTo>
                  <a:pt x="1904929" y="599773"/>
                </a:lnTo>
                <a:lnTo>
                  <a:pt x="0" y="59977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i="1" kern="1200">
                <a:solidFill>
                  <a:schemeClr val="accent1"/>
                </a:solidFill>
                <a:latin typeface="+mj-lt"/>
              </a:rPr>
              <a:t>Repeat - 30 trials</a:t>
            </a:r>
          </a:p>
        </p:txBody>
      </p:sp>
    </p:spTree>
    <p:extLst>
      <p:ext uri="{BB962C8B-B14F-4D97-AF65-F5344CB8AC3E}">
        <p14:creationId xmlns:p14="http://schemas.microsoft.com/office/powerpoint/2010/main" val="187866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 1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0619C"/>
      </a:accent1>
      <a:accent2>
        <a:srgbClr val="4C1433"/>
      </a:accent2>
      <a:accent3>
        <a:srgbClr val="902F62"/>
      </a:accent3>
      <a:accent4>
        <a:srgbClr val="40619C"/>
      </a:accent4>
      <a:accent5>
        <a:srgbClr val="4C1433"/>
      </a:accent5>
      <a:accent6>
        <a:srgbClr val="902F62"/>
      </a:accent6>
      <a:hlink>
        <a:srgbClr val="828282"/>
      </a:hlink>
      <a:folHlink>
        <a:srgbClr val="902F6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4564</TotalTime>
  <Words>760</Words>
  <Application>Microsoft Macintosh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Porter, Alexander J D</dc:creator>
  <cp:lastModifiedBy>Porter, Alexander J D</cp:lastModifiedBy>
  <cp:revision>55</cp:revision>
  <cp:lastPrinted>2026-04-05T07:51:41Z</cp:lastPrinted>
  <dcterms:created xsi:type="dcterms:W3CDTF">2026-03-29T11:07:33Z</dcterms:created>
  <dcterms:modified xsi:type="dcterms:W3CDTF">2026-04-05T08:07:12Z</dcterms:modified>
</cp:coreProperties>
</file>