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E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6"/>
    <p:restoredTop sz="94463"/>
  </p:normalViewPr>
  <p:slideViewPr>
    <p:cSldViewPr snapToGrid="0">
      <p:cViewPr varScale="1">
        <p:scale>
          <a:sx n="54" d="100"/>
          <a:sy n="54" d="100"/>
        </p:scale>
        <p:origin x="336" y="504"/>
      </p:cViewPr>
      <p:guideLst>
        <p:guide orient="horz" pos="3367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0AC98D-98A2-FA43-9E41-F1263E100E0E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DB4AFB-3DD3-3442-88E8-9BCD3D04DFC5}">
      <dgm:prSet phldrT="[Text]" custT="1"/>
      <dgm:spPr>
        <a:solidFill>
          <a:schemeClr val="tx1">
            <a:lumMod val="50000"/>
            <a:lumOff val="50000"/>
            <a:alpha val="20854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en-AE" sz="2000" b="0" i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Within subjects (N=34</a:t>
          </a:r>
          <a:r>
            <a:rPr lang="en-AE" sz="2000" b="0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)</a:t>
          </a:r>
          <a:endParaRPr lang="en-US" sz="2000" b="0" i="0">
            <a:solidFill>
              <a:schemeClr val="tx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D1048D8A-543F-0949-90B4-363FFA9F20A5}" type="parTrans" cxnId="{CF3CB640-A788-284E-876A-0C7CE3B7C218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29445F85-E431-FD4C-AED8-F1AF17A99A4B}" type="sibTrans" cxnId="{CF3CB640-A788-284E-876A-0C7CE3B7C218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83F42F32-A1F5-7B4D-B35F-04BC791A2FFA}">
      <dgm:prSet phldrT="[Text]" custT="1"/>
      <dgm:spPr>
        <a:solidFill>
          <a:schemeClr val="accent4">
            <a:lumMod val="75000"/>
            <a:alpha val="73441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pPr rtl="0"/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Non-Salience</a:t>
          </a:r>
        </a:p>
      </dgm:t>
    </dgm:pt>
    <dgm:pt modelId="{89AC4AE2-C5F9-C04B-AF21-61DCED3ED157}" type="parTrans" cxnId="{996FC891-E8C4-744D-A149-56DB3BC50313}">
      <dgm:prSet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FCFDA8B-1D25-0948-90B3-F2FB21A38B11}" type="sibTrans" cxnId="{996FC891-E8C4-744D-A149-56DB3BC50313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833FE972-DBFA-B249-A907-D8AD96AF7E9D}">
      <dgm:prSet phldrT="[Text]" custT="1"/>
      <dgm:spPr>
        <a:solidFill>
          <a:schemeClr val="bg1">
            <a:lumMod val="85000"/>
            <a:alpha val="35081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pPr rtl="0"/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EDA (autonomic activity)</a:t>
          </a:r>
        </a:p>
      </dgm:t>
    </dgm:pt>
    <dgm:pt modelId="{4ABCD5DD-CDF7-114C-A216-F3C3024E9473}" type="parTrans" cxnId="{E415E483-EB73-324D-8CEC-15940CA7AB38}">
      <dgm:prSet/>
      <dgm:spPr>
        <a:ln>
          <a:noFill/>
        </a:ln>
      </dgm:spPr>
      <dgm:t>
        <a:bodyPr/>
        <a:lstStyle/>
        <a:p>
          <a:pPr rtl="0"/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B3C69E2-36AA-094D-AF6F-97E385A34F82}" type="sibTrans" cxnId="{E415E483-EB73-324D-8CEC-15940CA7AB38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588E25C9-AFD5-9D43-8B96-4747C60B85C1}">
      <dgm:prSet phldrT="[Text]" custT="1"/>
      <dgm:spPr>
        <a:solidFill>
          <a:schemeClr val="bg2">
            <a:lumMod val="90000"/>
            <a:alpha val="38764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pPr rtl="0"/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Flanker Task (inhibitory control)</a:t>
          </a:r>
        </a:p>
      </dgm:t>
    </dgm:pt>
    <dgm:pt modelId="{4465F209-4D40-2545-930D-874F41E16A40}" type="parTrans" cxnId="{917F946B-1D7C-6C47-82A5-E4798C6C544B}">
      <dgm:prSet/>
      <dgm:spPr>
        <a:ln>
          <a:noFill/>
        </a:ln>
      </dgm:spPr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D9736F36-BE0E-D047-BF4C-48207706F066}" type="sibTrans" cxnId="{917F946B-1D7C-6C47-82A5-E4798C6C544B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2195793-8B2F-AB40-87BC-EC67A51B9A4A}">
      <dgm:prSet phldrT="[Text]" custT="1"/>
      <dgm:spPr>
        <a:solidFill>
          <a:schemeClr val="accent2">
            <a:lumMod val="60000"/>
            <a:lumOff val="40000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pPr rtl="0"/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Low-level</a:t>
          </a:r>
          <a:r>
            <a:rPr lang="en-US" sz="2000" b="0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Salience</a:t>
          </a:r>
        </a:p>
      </dgm:t>
    </dgm:pt>
    <dgm:pt modelId="{74D64C85-3892-2645-9036-D80CA1F0CFD6}" type="sibTrans" cxnId="{410FE8C7-408C-D74B-B931-07EDD447CB69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555AF631-9A9B-164E-A687-FF00537C70F5}" type="parTrans" cxnId="{410FE8C7-408C-D74B-B931-07EDD447CB69}">
      <dgm:prSet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27B0AAC-4579-964B-B56E-5BAAD43C3850}">
      <dgm:prSet phldrT="[Text]" custT="1"/>
      <dgm:spPr>
        <a:solidFill>
          <a:schemeClr val="bg1">
            <a:lumMod val="85000"/>
            <a:alpha val="40902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pPr rtl="0"/>
          <a:r>
            <a:rPr lang="en-US" sz="2000" b="1" i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EEG (N2 activity)</a:t>
          </a:r>
        </a:p>
      </dgm:t>
    </dgm:pt>
    <dgm:pt modelId="{A29F2A34-53C3-764E-822F-0BCCC64DD7E7}" type="sibTrans" cxnId="{E70A9F09-80C5-A243-A517-00E933FDC96F}">
      <dgm:prSet/>
      <dgm:spPr/>
      <dgm:t>
        <a:bodyPr/>
        <a:lstStyle/>
        <a:p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ECB0BA3-ADCB-DB43-8903-361D726ED9C7}" type="parTrans" cxnId="{E70A9F09-80C5-A243-A517-00E933FDC96F}">
      <dgm:prSet/>
      <dgm:spPr>
        <a:ln>
          <a:noFill/>
        </a:ln>
      </dgm:spPr>
      <dgm:t>
        <a:bodyPr/>
        <a:lstStyle/>
        <a:p>
          <a:pPr rtl="0"/>
          <a:endParaRPr lang="en-US" sz="2000" b="0" i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C9B3439-724B-5549-B57D-C35204049AC2}" type="pres">
      <dgm:prSet presAssocID="{560AC98D-98A2-FA43-9E41-F1263E100E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CF4169A-642E-A34C-ADAE-105E823219DE}" type="pres">
      <dgm:prSet presAssocID="{07DB4AFB-3DD3-3442-88E8-9BCD3D04DFC5}" presName="hierRoot1" presStyleCnt="0">
        <dgm:presLayoutVars>
          <dgm:hierBranch val="init"/>
        </dgm:presLayoutVars>
      </dgm:prSet>
      <dgm:spPr/>
    </dgm:pt>
    <dgm:pt modelId="{0FA617D0-6E3C-5C4B-A6D8-E47545CD40A6}" type="pres">
      <dgm:prSet presAssocID="{07DB4AFB-3DD3-3442-88E8-9BCD3D04DFC5}" presName="rootComposite1" presStyleCnt="0"/>
      <dgm:spPr/>
    </dgm:pt>
    <dgm:pt modelId="{E19B3097-F37E-714B-B58D-E929B7C96091}" type="pres">
      <dgm:prSet presAssocID="{07DB4AFB-3DD3-3442-88E8-9BCD3D04DFC5}" presName="rootText1" presStyleLbl="node0" presStyleIdx="0" presStyleCnt="1" custScaleX="81169" custScaleY="299080" custLinFactNeighborX="-15798" custLinFactNeighborY="-53752">
        <dgm:presLayoutVars>
          <dgm:chPref val="3"/>
        </dgm:presLayoutVars>
      </dgm:prSet>
      <dgm:spPr/>
    </dgm:pt>
    <dgm:pt modelId="{9BAD35EA-5925-B146-B7CD-C5695BA1ACE2}" type="pres">
      <dgm:prSet presAssocID="{07DB4AFB-3DD3-3442-88E8-9BCD3D04DFC5}" presName="rootConnector1" presStyleLbl="node1" presStyleIdx="0" presStyleCnt="0"/>
      <dgm:spPr/>
    </dgm:pt>
    <dgm:pt modelId="{E2E5EDC0-874D-9941-81E7-82625885828B}" type="pres">
      <dgm:prSet presAssocID="{07DB4AFB-3DD3-3442-88E8-9BCD3D04DFC5}" presName="hierChild2" presStyleCnt="0"/>
      <dgm:spPr/>
    </dgm:pt>
    <dgm:pt modelId="{7E6D6E1B-3D84-CD4F-A4F3-2A08B258F92F}" type="pres">
      <dgm:prSet presAssocID="{89AC4AE2-C5F9-C04B-AF21-61DCED3ED157}" presName="Name64" presStyleLbl="parChTrans1D2" presStyleIdx="0" presStyleCnt="2"/>
      <dgm:spPr/>
    </dgm:pt>
    <dgm:pt modelId="{285EEDEE-40F6-4B4A-A960-44C8B51451E2}" type="pres">
      <dgm:prSet presAssocID="{83F42F32-A1F5-7B4D-B35F-04BC791A2FFA}" presName="hierRoot2" presStyleCnt="0">
        <dgm:presLayoutVars>
          <dgm:hierBranch val="init"/>
        </dgm:presLayoutVars>
      </dgm:prSet>
      <dgm:spPr/>
    </dgm:pt>
    <dgm:pt modelId="{B85CF5D6-D621-6B4C-AE93-7E6B55B0459D}" type="pres">
      <dgm:prSet presAssocID="{83F42F32-A1F5-7B4D-B35F-04BC791A2FFA}" presName="rootComposite" presStyleCnt="0"/>
      <dgm:spPr/>
    </dgm:pt>
    <dgm:pt modelId="{35AF1ED7-3A77-D84C-AFBA-87B045313FAA}" type="pres">
      <dgm:prSet presAssocID="{83F42F32-A1F5-7B4D-B35F-04BC791A2FFA}" presName="rootText" presStyleLbl="node2" presStyleIdx="0" presStyleCnt="2" custScaleX="81174" custScaleY="222777" custLinFactNeighborX="-8846" custLinFactNeighborY="-28219">
        <dgm:presLayoutVars>
          <dgm:chPref val="3"/>
        </dgm:presLayoutVars>
      </dgm:prSet>
      <dgm:spPr/>
    </dgm:pt>
    <dgm:pt modelId="{156ADDA0-3A20-BF48-8A9E-0A8C781CE4F2}" type="pres">
      <dgm:prSet presAssocID="{83F42F32-A1F5-7B4D-B35F-04BC791A2FFA}" presName="rootConnector" presStyleLbl="node2" presStyleIdx="0" presStyleCnt="2"/>
      <dgm:spPr/>
    </dgm:pt>
    <dgm:pt modelId="{C94F78AD-975B-D64D-B9F8-B4565C3A617A}" type="pres">
      <dgm:prSet presAssocID="{83F42F32-A1F5-7B4D-B35F-04BC791A2FFA}" presName="hierChild4" presStyleCnt="0"/>
      <dgm:spPr/>
    </dgm:pt>
    <dgm:pt modelId="{F5EB8061-29EB-BB49-A839-9FA0FAC75632}" type="pres">
      <dgm:prSet presAssocID="{4ABCD5DD-CDF7-114C-A216-F3C3024E9473}" presName="Name64" presStyleLbl="parChTrans1D3" presStyleIdx="0" presStyleCnt="3"/>
      <dgm:spPr/>
    </dgm:pt>
    <dgm:pt modelId="{180B695A-CB28-D14D-9620-7D556A315716}" type="pres">
      <dgm:prSet presAssocID="{833FE972-DBFA-B249-A907-D8AD96AF7E9D}" presName="hierRoot2" presStyleCnt="0">
        <dgm:presLayoutVars>
          <dgm:hierBranch val="init"/>
        </dgm:presLayoutVars>
      </dgm:prSet>
      <dgm:spPr/>
    </dgm:pt>
    <dgm:pt modelId="{5EE16D84-3156-054A-8BFE-7DF2B2A92926}" type="pres">
      <dgm:prSet presAssocID="{833FE972-DBFA-B249-A907-D8AD96AF7E9D}" presName="rootComposite" presStyleCnt="0"/>
      <dgm:spPr/>
    </dgm:pt>
    <dgm:pt modelId="{A88BFECA-9E55-6541-AF30-9BC19E7C6E60}" type="pres">
      <dgm:prSet presAssocID="{833FE972-DBFA-B249-A907-D8AD96AF7E9D}" presName="rootText" presStyleLbl="node3" presStyleIdx="0" presStyleCnt="3" custScaleX="173300" custScaleY="148971" custLinFactNeighborX="6687" custLinFactNeighborY="15851">
        <dgm:presLayoutVars>
          <dgm:chPref val="3"/>
        </dgm:presLayoutVars>
      </dgm:prSet>
      <dgm:spPr/>
    </dgm:pt>
    <dgm:pt modelId="{60920B87-3EAB-194D-B7F5-DBBB7F54720E}" type="pres">
      <dgm:prSet presAssocID="{833FE972-DBFA-B249-A907-D8AD96AF7E9D}" presName="rootConnector" presStyleLbl="node3" presStyleIdx="0" presStyleCnt="3"/>
      <dgm:spPr/>
    </dgm:pt>
    <dgm:pt modelId="{0476B089-B2AB-7543-BD38-6C8142FE5B02}" type="pres">
      <dgm:prSet presAssocID="{833FE972-DBFA-B249-A907-D8AD96AF7E9D}" presName="hierChild4" presStyleCnt="0"/>
      <dgm:spPr/>
    </dgm:pt>
    <dgm:pt modelId="{C65FF12E-A056-2D49-A497-57E665040662}" type="pres">
      <dgm:prSet presAssocID="{833FE972-DBFA-B249-A907-D8AD96AF7E9D}" presName="hierChild5" presStyleCnt="0"/>
      <dgm:spPr/>
    </dgm:pt>
    <dgm:pt modelId="{C39477D8-FF3A-E946-841F-69D7C3A535FC}" type="pres">
      <dgm:prSet presAssocID="{6ECB0BA3-ADCB-DB43-8903-361D726ED9C7}" presName="Name64" presStyleLbl="parChTrans1D3" presStyleIdx="1" presStyleCnt="3"/>
      <dgm:spPr/>
    </dgm:pt>
    <dgm:pt modelId="{87E35076-3E3F-6E41-BFDF-389521E79436}" type="pres">
      <dgm:prSet presAssocID="{727B0AAC-4579-964B-B56E-5BAAD43C3850}" presName="hierRoot2" presStyleCnt="0">
        <dgm:presLayoutVars>
          <dgm:hierBranch val="init"/>
        </dgm:presLayoutVars>
      </dgm:prSet>
      <dgm:spPr/>
    </dgm:pt>
    <dgm:pt modelId="{9D3EFA35-C902-5842-9F7F-80030036F94D}" type="pres">
      <dgm:prSet presAssocID="{727B0AAC-4579-964B-B56E-5BAAD43C3850}" presName="rootComposite" presStyleCnt="0"/>
      <dgm:spPr/>
    </dgm:pt>
    <dgm:pt modelId="{D4802A93-F52C-5D4B-9FC9-693A53B087F2}" type="pres">
      <dgm:prSet presAssocID="{727B0AAC-4579-964B-B56E-5BAAD43C3850}" presName="rootText" presStyleLbl="node3" presStyleIdx="1" presStyleCnt="3" custScaleX="166879" custScaleY="121312" custLinFactY="100000" custLinFactNeighborX="-2010" custLinFactNeighborY="131438">
        <dgm:presLayoutVars>
          <dgm:chPref val="3"/>
        </dgm:presLayoutVars>
      </dgm:prSet>
      <dgm:spPr/>
    </dgm:pt>
    <dgm:pt modelId="{0A470D5A-C9C4-9440-A016-3CBC3FC5D91F}" type="pres">
      <dgm:prSet presAssocID="{727B0AAC-4579-964B-B56E-5BAAD43C3850}" presName="rootConnector" presStyleLbl="node3" presStyleIdx="1" presStyleCnt="3"/>
      <dgm:spPr/>
    </dgm:pt>
    <dgm:pt modelId="{752A6AC9-1C75-964E-B6A1-7E248FE2E128}" type="pres">
      <dgm:prSet presAssocID="{727B0AAC-4579-964B-B56E-5BAAD43C3850}" presName="hierChild4" presStyleCnt="0"/>
      <dgm:spPr/>
    </dgm:pt>
    <dgm:pt modelId="{4C1F3356-6D55-C045-A473-C14759BDFA84}" type="pres">
      <dgm:prSet presAssocID="{727B0AAC-4579-964B-B56E-5BAAD43C3850}" presName="hierChild5" presStyleCnt="0"/>
      <dgm:spPr/>
    </dgm:pt>
    <dgm:pt modelId="{1662984A-A386-784B-9529-FD820D0CED2E}" type="pres">
      <dgm:prSet presAssocID="{83F42F32-A1F5-7B4D-B35F-04BC791A2FFA}" presName="hierChild5" presStyleCnt="0"/>
      <dgm:spPr/>
    </dgm:pt>
    <dgm:pt modelId="{597E170E-E495-1A4B-B2C6-863A6A1F1C1F}" type="pres">
      <dgm:prSet presAssocID="{555AF631-9A9B-164E-A687-FF00537C70F5}" presName="Name64" presStyleLbl="parChTrans1D2" presStyleIdx="1" presStyleCnt="2"/>
      <dgm:spPr/>
    </dgm:pt>
    <dgm:pt modelId="{031C31DC-A472-5242-A19C-1FC321CC58B4}" type="pres">
      <dgm:prSet presAssocID="{42195793-8B2F-AB40-87BC-EC67A51B9A4A}" presName="hierRoot2" presStyleCnt="0">
        <dgm:presLayoutVars>
          <dgm:hierBranch val="init"/>
        </dgm:presLayoutVars>
      </dgm:prSet>
      <dgm:spPr/>
    </dgm:pt>
    <dgm:pt modelId="{F2D505C1-2472-124A-9BA8-F2AD70E091F8}" type="pres">
      <dgm:prSet presAssocID="{42195793-8B2F-AB40-87BC-EC67A51B9A4A}" presName="rootComposite" presStyleCnt="0"/>
      <dgm:spPr/>
    </dgm:pt>
    <dgm:pt modelId="{E3BBF1FF-0F76-0C47-98CE-E493A97CFD7B}" type="pres">
      <dgm:prSet presAssocID="{42195793-8B2F-AB40-87BC-EC67A51B9A4A}" presName="rootText" presStyleLbl="node2" presStyleIdx="1" presStyleCnt="2" custScaleX="81594" custScaleY="244988" custLinFactNeighborX="-8418" custLinFactNeighborY="-46736">
        <dgm:presLayoutVars>
          <dgm:chPref val="3"/>
        </dgm:presLayoutVars>
      </dgm:prSet>
      <dgm:spPr/>
    </dgm:pt>
    <dgm:pt modelId="{E4BE2366-572F-E243-999C-1B05A40A47C1}" type="pres">
      <dgm:prSet presAssocID="{42195793-8B2F-AB40-87BC-EC67A51B9A4A}" presName="rootConnector" presStyleLbl="node2" presStyleIdx="1" presStyleCnt="2"/>
      <dgm:spPr/>
    </dgm:pt>
    <dgm:pt modelId="{FE3539B7-78A4-7849-8DF0-6CE5B7940C60}" type="pres">
      <dgm:prSet presAssocID="{42195793-8B2F-AB40-87BC-EC67A51B9A4A}" presName="hierChild4" presStyleCnt="0"/>
      <dgm:spPr/>
    </dgm:pt>
    <dgm:pt modelId="{587643DD-2498-9348-96C6-E3FF9B61E15D}" type="pres">
      <dgm:prSet presAssocID="{4465F209-4D40-2545-930D-874F41E16A40}" presName="Name64" presStyleLbl="parChTrans1D3" presStyleIdx="2" presStyleCnt="3"/>
      <dgm:spPr/>
    </dgm:pt>
    <dgm:pt modelId="{C00845A6-905D-5C42-8B01-F2DE55821A0E}" type="pres">
      <dgm:prSet presAssocID="{588E25C9-AFD5-9D43-8B96-4747C60B85C1}" presName="hierRoot2" presStyleCnt="0">
        <dgm:presLayoutVars>
          <dgm:hierBranch val="init"/>
        </dgm:presLayoutVars>
      </dgm:prSet>
      <dgm:spPr/>
    </dgm:pt>
    <dgm:pt modelId="{D09B6B5F-9128-8248-AA1E-9B3E6BEAD1F1}" type="pres">
      <dgm:prSet presAssocID="{588E25C9-AFD5-9D43-8B96-4747C60B85C1}" presName="rootComposite" presStyleCnt="0"/>
      <dgm:spPr/>
    </dgm:pt>
    <dgm:pt modelId="{6EAA9F60-60F0-D342-97A5-E9D5026A3EF7}" type="pres">
      <dgm:prSet presAssocID="{588E25C9-AFD5-9D43-8B96-4747C60B85C1}" presName="rootText" presStyleLbl="node3" presStyleIdx="2" presStyleCnt="3" custScaleX="180245" custScaleY="204065" custLinFactY="-53894" custLinFactNeighborX="-95" custLinFactNeighborY="-100000">
        <dgm:presLayoutVars>
          <dgm:chPref val="3"/>
        </dgm:presLayoutVars>
      </dgm:prSet>
      <dgm:spPr/>
    </dgm:pt>
    <dgm:pt modelId="{CE646E2C-245C-1C43-A4DD-C6324D700DD3}" type="pres">
      <dgm:prSet presAssocID="{588E25C9-AFD5-9D43-8B96-4747C60B85C1}" presName="rootConnector" presStyleLbl="node3" presStyleIdx="2" presStyleCnt="3"/>
      <dgm:spPr/>
    </dgm:pt>
    <dgm:pt modelId="{224D13A0-2F79-6A41-8572-51BAAA0A0AF0}" type="pres">
      <dgm:prSet presAssocID="{588E25C9-AFD5-9D43-8B96-4747C60B85C1}" presName="hierChild4" presStyleCnt="0"/>
      <dgm:spPr/>
    </dgm:pt>
    <dgm:pt modelId="{4FD5FDFB-E236-184C-9D38-F2640BF0B1EE}" type="pres">
      <dgm:prSet presAssocID="{588E25C9-AFD5-9D43-8B96-4747C60B85C1}" presName="hierChild5" presStyleCnt="0"/>
      <dgm:spPr/>
    </dgm:pt>
    <dgm:pt modelId="{24470A00-798F-2142-B065-4EADC149CE8F}" type="pres">
      <dgm:prSet presAssocID="{42195793-8B2F-AB40-87BC-EC67A51B9A4A}" presName="hierChild5" presStyleCnt="0"/>
      <dgm:spPr/>
    </dgm:pt>
    <dgm:pt modelId="{4D84F5D6-9EE4-E44E-A294-F2B2FFAC11C9}" type="pres">
      <dgm:prSet presAssocID="{07DB4AFB-3DD3-3442-88E8-9BCD3D04DFC5}" presName="hierChild3" presStyleCnt="0"/>
      <dgm:spPr/>
    </dgm:pt>
  </dgm:ptLst>
  <dgm:cxnLst>
    <dgm:cxn modelId="{D2F2C108-4C0C-2C4E-9CD6-E427537814D4}" type="presOf" srcId="{727B0AAC-4579-964B-B56E-5BAAD43C3850}" destId="{D4802A93-F52C-5D4B-9FC9-693A53B087F2}" srcOrd="0" destOrd="0" presId="urn:microsoft.com/office/officeart/2009/3/layout/HorizontalOrganizationChart"/>
    <dgm:cxn modelId="{E70A9F09-80C5-A243-A517-00E933FDC96F}" srcId="{83F42F32-A1F5-7B4D-B35F-04BC791A2FFA}" destId="{727B0AAC-4579-964B-B56E-5BAAD43C3850}" srcOrd="1" destOrd="0" parTransId="{6ECB0BA3-ADCB-DB43-8903-361D726ED9C7}" sibTransId="{A29F2A34-53C3-764E-822F-0BCCC64DD7E7}"/>
    <dgm:cxn modelId="{44262B0B-2632-1A4E-8CA5-DD49EF3E7FB2}" type="presOf" srcId="{588E25C9-AFD5-9D43-8B96-4747C60B85C1}" destId="{CE646E2C-245C-1C43-A4DD-C6324D700DD3}" srcOrd="1" destOrd="0" presId="urn:microsoft.com/office/officeart/2009/3/layout/HorizontalOrganizationChart"/>
    <dgm:cxn modelId="{5F46C21E-662A-F743-8AB6-B83A55AF7C37}" type="presOf" srcId="{83F42F32-A1F5-7B4D-B35F-04BC791A2FFA}" destId="{35AF1ED7-3A77-D84C-AFBA-87B045313FAA}" srcOrd="0" destOrd="0" presId="urn:microsoft.com/office/officeart/2009/3/layout/HorizontalOrganizationChart"/>
    <dgm:cxn modelId="{373D982E-1F86-2344-831D-D9812DD5605B}" type="presOf" srcId="{6ECB0BA3-ADCB-DB43-8903-361D726ED9C7}" destId="{C39477D8-FF3A-E946-841F-69D7C3A535FC}" srcOrd="0" destOrd="0" presId="urn:microsoft.com/office/officeart/2009/3/layout/HorizontalOrganizationChart"/>
    <dgm:cxn modelId="{D3B2BE2E-1219-764B-995A-45C04E21A0CC}" type="presOf" srcId="{833FE972-DBFA-B249-A907-D8AD96AF7E9D}" destId="{60920B87-3EAB-194D-B7F5-DBBB7F54720E}" srcOrd="1" destOrd="0" presId="urn:microsoft.com/office/officeart/2009/3/layout/HorizontalOrganizationChart"/>
    <dgm:cxn modelId="{488E242F-1085-F14A-BA8F-B4E2D95D5988}" type="presOf" srcId="{4ABCD5DD-CDF7-114C-A216-F3C3024E9473}" destId="{F5EB8061-29EB-BB49-A839-9FA0FAC75632}" srcOrd="0" destOrd="0" presId="urn:microsoft.com/office/officeart/2009/3/layout/HorizontalOrganizationChart"/>
    <dgm:cxn modelId="{8CF4C63A-5FE0-2B46-B987-8D29242CCD9C}" type="presOf" srcId="{83F42F32-A1F5-7B4D-B35F-04BC791A2FFA}" destId="{156ADDA0-3A20-BF48-8A9E-0A8C781CE4F2}" srcOrd="1" destOrd="0" presId="urn:microsoft.com/office/officeart/2009/3/layout/HorizontalOrganizationChart"/>
    <dgm:cxn modelId="{CF3CB640-A788-284E-876A-0C7CE3B7C218}" srcId="{560AC98D-98A2-FA43-9E41-F1263E100E0E}" destId="{07DB4AFB-3DD3-3442-88E8-9BCD3D04DFC5}" srcOrd="0" destOrd="0" parTransId="{D1048D8A-543F-0949-90B4-363FFA9F20A5}" sibTransId="{29445F85-E431-FD4C-AED8-F1AF17A99A4B}"/>
    <dgm:cxn modelId="{6FC5664F-9A7D-E744-B667-CC8C09AFEE80}" type="presOf" srcId="{07DB4AFB-3DD3-3442-88E8-9BCD3D04DFC5}" destId="{E19B3097-F37E-714B-B58D-E929B7C96091}" srcOrd="0" destOrd="0" presId="urn:microsoft.com/office/officeart/2009/3/layout/HorizontalOrganizationChart"/>
    <dgm:cxn modelId="{A3E0E95D-B3FC-4945-9976-B375E8F3E57A}" type="presOf" srcId="{4465F209-4D40-2545-930D-874F41E16A40}" destId="{587643DD-2498-9348-96C6-E3FF9B61E15D}" srcOrd="0" destOrd="0" presId="urn:microsoft.com/office/officeart/2009/3/layout/HorizontalOrganizationChart"/>
    <dgm:cxn modelId="{917F946B-1D7C-6C47-82A5-E4798C6C544B}" srcId="{42195793-8B2F-AB40-87BC-EC67A51B9A4A}" destId="{588E25C9-AFD5-9D43-8B96-4747C60B85C1}" srcOrd="0" destOrd="0" parTransId="{4465F209-4D40-2545-930D-874F41E16A40}" sibTransId="{D9736F36-BE0E-D047-BF4C-48207706F066}"/>
    <dgm:cxn modelId="{CAF3BB72-EF12-9B41-ABDD-61AB11DDE80E}" type="presOf" srcId="{42195793-8B2F-AB40-87BC-EC67A51B9A4A}" destId="{E4BE2366-572F-E243-999C-1B05A40A47C1}" srcOrd="1" destOrd="0" presId="urn:microsoft.com/office/officeart/2009/3/layout/HorizontalOrganizationChart"/>
    <dgm:cxn modelId="{BD648277-F243-924F-AA1E-4E06B40885A8}" type="presOf" srcId="{727B0AAC-4579-964B-B56E-5BAAD43C3850}" destId="{0A470D5A-C9C4-9440-A016-3CBC3FC5D91F}" srcOrd="1" destOrd="0" presId="urn:microsoft.com/office/officeart/2009/3/layout/HorizontalOrganizationChart"/>
    <dgm:cxn modelId="{FBFDF17D-5C31-3844-828B-09898C1EB525}" type="presOf" srcId="{833FE972-DBFA-B249-A907-D8AD96AF7E9D}" destId="{A88BFECA-9E55-6541-AF30-9BC19E7C6E60}" srcOrd="0" destOrd="0" presId="urn:microsoft.com/office/officeart/2009/3/layout/HorizontalOrganizationChart"/>
    <dgm:cxn modelId="{84B3D77F-6007-5C45-9E46-A75AD997ACCE}" type="presOf" srcId="{588E25C9-AFD5-9D43-8B96-4747C60B85C1}" destId="{6EAA9F60-60F0-D342-97A5-E9D5026A3EF7}" srcOrd="0" destOrd="0" presId="urn:microsoft.com/office/officeart/2009/3/layout/HorizontalOrganizationChart"/>
    <dgm:cxn modelId="{E415E483-EB73-324D-8CEC-15940CA7AB38}" srcId="{83F42F32-A1F5-7B4D-B35F-04BC791A2FFA}" destId="{833FE972-DBFA-B249-A907-D8AD96AF7E9D}" srcOrd="0" destOrd="0" parTransId="{4ABCD5DD-CDF7-114C-A216-F3C3024E9473}" sibTransId="{9B3C69E2-36AA-094D-AF6F-97E385A34F82}"/>
    <dgm:cxn modelId="{996FC891-E8C4-744D-A149-56DB3BC50313}" srcId="{07DB4AFB-3DD3-3442-88E8-9BCD3D04DFC5}" destId="{83F42F32-A1F5-7B4D-B35F-04BC791A2FFA}" srcOrd="0" destOrd="0" parTransId="{89AC4AE2-C5F9-C04B-AF21-61DCED3ED157}" sibTransId="{7FCFDA8B-1D25-0948-90B3-F2FB21A38B11}"/>
    <dgm:cxn modelId="{0C8AFDA2-447E-B549-A837-48E8E89A7329}" type="presOf" srcId="{89AC4AE2-C5F9-C04B-AF21-61DCED3ED157}" destId="{7E6D6E1B-3D84-CD4F-A4F3-2A08B258F92F}" srcOrd="0" destOrd="0" presId="urn:microsoft.com/office/officeart/2009/3/layout/HorizontalOrganizationChart"/>
    <dgm:cxn modelId="{E6344BC6-40B3-D74A-A526-F93AEE1DF866}" type="presOf" srcId="{560AC98D-98A2-FA43-9E41-F1263E100E0E}" destId="{FC9B3439-724B-5549-B57D-C35204049AC2}" srcOrd="0" destOrd="0" presId="urn:microsoft.com/office/officeart/2009/3/layout/HorizontalOrganizationChart"/>
    <dgm:cxn modelId="{410FE8C7-408C-D74B-B931-07EDD447CB69}" srcId="{07DB4AFB-3DD3-3442-88E8-9BCD3D04DFC5}" destId="{42195793-8B2F-AB40-87BC-EC67A51B9A4A}" srcOrd="1" destOrd="0" parTransId="{555AF631-9A9B-164E-A687-FF00537C70F5}" sibTransId="{74D64C85-3892-2645-9036-D80CA1F0CFD6}"/>
    <dgm:cxn modelId="{039071CF-B181-9449-8A34-3B104428F06D}" type="presOf" srcId="{555AF631-9A9B-164E-A687-FF00537C70F5}" destId="{597E170E-E495-1A4B-B2C6-863A6A1F1C1F}" srcOrd="0" destOrd="0" presId="urn:microsoft.com/office/officeart/2009/3/layout/HorizontalOrganizationChart"/>
    <dgm:cxn modelId="{780466E7-B9FE-AD4C-9885-6102C13D9254}" type="presOf" srcId="{07DB4AFB-3DD3-3442-88E8-9BCD3D04DFC5}" destId="{9BAD35EA-5925-B146-B7CD-C5695BA1ACE2}" srcOrd="1" destOrd="0" presId="urn:microsoft.com/office/officeart/2009/3/layout/HorizontalOrganizationChart"/>
    <dgm:cxn modelId="{7778EFF6-6FCA-7B47-82AC-F6CC5CAE17B6}" type="presOf" srcId="{42195793-8B2F-AB40-87BC-EC67A51B9A4A}" destId="{E3BBF1FF-0F76-0C47-98CE-E493A97CFD7B}" srcOrd="0" destOrd="0" presId="urn:microsoft.com/office/officeart/2009/3/layout/HorizontalOrganizationChart"/>
    <dgm:cxn modelId="{2A22780A-A932-3745-AB4F-312DDAC4647F}" type="presParOf" srcId="{FC9B3439-724B-5549-B57D-C35204049AC2}" destId="{6CF4169A-642E-A34C-ADAE-105E823219DE}" srcOrd="0" destOrd="0" presId="urn:microsoft.com/office/officeart/2009/3/layout/HorizontalOrganizationChart"/>
    <dgm:cxn modelId="{6B9ACB6B-8EAD-A04C-AFE2-B3D1BE809744}" type="presParOf" srcId="{6CF4169A-642E-A34C-ADAE-105E823219DE}" destId="{0FA617D0-6E3C-5C4B-A6D8-E47545CD40A6}" srcOrd="0" destOrd="0" presId="urn:microsoft.com/office/officeart/2009/3/layout/HorizontalOrganizationChart"/>
    <dgm:cxn modelId="{5382EBC5-F35D-EF4E-A7C1-7FEFB1783374}" type="presParOf" srcId="{0FA617D0-6E3C-5C4B-A6D8-E47545CD40A6}" destId="{E19B3097-F37E-714B-B58D-E929B7C96091}" srcOrd="0" destOrd="0" presId="urn:microsoft.com/office/officeart/2009/3/layout/HorizontalOrganizationChart"/>
    <dgm:cxn modelId="{37AB25B1-3D25-9344-A5E3-00098210269D}" type="presParOf" srcId="{0FA617D0-6E3C-5C4B-A6D8-E47545CD40A6}" destId="{9BAD35EA-5925-B146-B7CD-C5695BA1ACE2}" srcOrd="1" destOrd="0" presId="urn:microsoft.com/office/officeart/2009/3/layout/HorizontalOrganizationChart"/>
    <dgm:cxn modelId="{B7D38A82-0363-FB49-9FF4-565A3889669A}" type="presParOf" srcId="{6CF4169A-642E-A34C-ADAE-105E823219DE}" destId="{E2E5EDC0-874D-9941-81E7-82625885828B}" srcOrd="1" destOrd="0" presId="urn:microsoft.com/office/officeart/2009/3/layout/HorizontalOrganizationChart"/>
    <dgm:cxn modelId="{4DA11460-D95F-3044-A23B-71CF2C5DD13E}" type="presParOf" srcId="{E2E5EDC0-874D-9941-81E7-82625885828B}" destId="{7E6D6E1B-3D84-CD4F-A4F3-2A08B258F92F}" srcOrd="0" destOrd="0" presId="urn:microsoft.com/office/officeart/2009/3/layout/HorizontalOrganizationChart"/>
    <dgm:cxn modelId="{0A585AE6-B1A8-BE4F-9612-26BA6802DCD9}" type="presParOf" srcId="{E2E5EDC0-874D-9941-81E7-82625885828B}" destId="{285EEDEE-40F6-4B4A-A960-44C8B51451E2}" srcOrd="1" destOrd="0" presId="urn:microsoft.com/office/officeart/2009/3/layout/HorizontalOrganizationChart"/>
    <dgm:cxn modelId="{F5901E1B-AD76-0044-BAB1-5E2869FF83BC}" type="presParOf" srcId="{285EEDEE-40F6-4B4A-A960-44C8B51451E2}" destId="{B85CF5D6-D621-6B4C-AE93-7E6B55B0459D}" srcOrd="0" destOrd="0" presId="urn:microsoft.com/office/officeart/2009/3/layout/HorizontalOrganizationChart"/>
    <dgm:cxn modelId="{0A21B054-5667-344C-9168-A25C1E024741}" type="presParOf" srcId="{B85CF5D6-D621-6B4C-AE93-7E6B55B0459D}" destId="{35AF1ED7-3A77-D84C-AFBA-87B045313FAA}" srcOrd="0" destOrd="0" presId="urn:microsoft.com/office/officeart/2009/3/layout/HorizontalOrganizationChart"/>
    <dgm:cxn modelId="{923E3E3A-886D-9847-B165-F6C1173FF4FB}" type="presParOf" srcId="{B85CF5D6-D621-6B4C-AE93-7E6B55B0459D}" destId="{156ADDA0-3A20-BF48-8A9E-0A8C781CE4F2}" srcOrd="1" destOrd="0" presId="urn:microsoft.com/office/officeart/2009/3/layout/HorizontalOrganizationChart"/>
    <dgm:cxn modelId="{4BF2546B-7420-2C45-804A-AB744056D3B4}" type="presParOf" srcId="{285EEDEE-40F6-4B4A-A960-44C8B51451E2}" destId="{C94F78AD-975B-D64D-B9F8-B4565C3A617A}" srcOrd="1" destOrd="0" presId="urn:microsoft.com/office/officeart/2009/3/layout/HorizontalOrganizationChart"/>
    <dgm:cxn modelId="{649803D9-AEAB-A44B-BDD8-C488E0CD581A}" type="presParOf" srcId="{C94F78AD-975B-D64D-B9F8-B4565C3A617A}" destId="{F5EB8061-29EB-BB49-A839-9FA0FAC75632}" srcOrd="0" destOrd="0" presId="urn:microsoft.com/office/officeart/2009/3/layout/HorizontalOrganizationChart"/>
    <dgm:cxn modelId="{AB0779C1-5BBD-8243-8550-460BAB736A93}" type="presParOf" srcId="{C94F78AD-975B-D64D-B9F8-B4565C3A617A}" destId="{180B695A-CB28-D14D-9620-7D556A315716}" srcOrd="1" destOrd="0" presId="urn:microsoft.com/office/officeart/2009/3/layout/HorizontalOrganizationChart"/>
    <dgm:cxn modelId="{F522C1C7-6C0A-3740-85CB-6AA5FDFAEB73}" type="presParOf" srcId="{180B695A-CB28-D14D-9620-7D556A315716}" destId="{5EE16D84-3156-054A-8BFE-7DF2B2A92926}" srcOrd="0" destOrd="0" presId="urn:microsoft.com/office/officeart/2009/3/layout/HorizontalOrganizationChart"/>
    <dgm:cxn modelId="{69A04B24-73BA-C949-91A4-AC50454AB4B7}" type="presParOf" srcId="{5EE16D84-3156-054A-8BFE-7DF2B2A92926}" destId="{A88BFECA-9E55-6541-AF30-9BC19E7C6E60}" srcOrd="0" destOrd="0" presId="urn:microsoft.com/office/officeart/2009/3/layout/HorizontalOrganizationChart"/>
    <dgm:cxn modelId="{93B62CC3-9352-114E-901D-B964A1796B3A}" type="presParOf" srcId="{5EE16D84-3156-054A-8BFE-7DF2B2A92926}" destId="{60920B87-3EAB-194D-B7F5-DBBB7F54720E}" srcOrd="1" destOrd="0" presId="urn:microsoft.com/office/officeart/2009/3/layout/HorizontalOrganizationChart"/>
    <dgm:cxn modelId="{7D4B1EB7-0717-E541-97BF-504E4A98CB71}" type="presParOf" srcId="{180B695A-CB28-D14D-9620-7D556A315716}" destId="{0476B089-B2AB-7543-BD38-6C8142FE5B02}" srcOrd="1" destOrd="0" presId="urn:microsoft.com/office/officeart/2009/3/layout/HorizontalOrganizationChart"/>
    <dgm:cxn modelId="{10459E0B-5AB3-1243-B7C4-14A1779EA909}" type="presParOf" srcId="{180B695A-CB28-D14D-9620-7D556A315716}" destId="{C65FF12E-A056-2D49-A497-57E665040662}" srcOrd="2" destOrd="0" presId="urn:microsoft.com/office/officeart/2009/3/layout/HorizontalOrganizationChart"/>
    <dgm:cxn modelId="{D4DECCF9-E741-4A48-86B5-04785E0BEB18}" type="presParOf" srcId="{C94F78AD-975B-D64D-B9F8-B4565C3A617A}" destId="{C39477D8-FF3A-E946-841F-69D7C3A535FC}" srcOrd="2" destOrd="0" presId="urn:microsoft.com/office/officeart/2009/3/layout/HorizontalOrganizationChart"/>
    <dgm:cxn modelId="{030C2C2E-8B63-3A4F-A1A1-8259BAFD72A2}" type="presParOf" srcId="{C94F78AD-975B-D64D-B9F8-B4565C3A617A}" destId="{87E35076-3E3F-6E41-BFDF-389521E79436}" srcOrd="3" destOrd="0" presId="urn:microsoft.com/office/officeart/2009/3/layout/HorizontalOrganizationChart"/>
    <dgm:cxn modelId="{8EB193DF-D2B7-364D-9997-5B583971AD82}" type="presParOf" srcId="{87E35076-3E3F-6E41-BFDF-389521E79436}" destId="{9D3EFA35-C902-5842-9F7F-80030036F94D}" srcOrd="0" destOrd="0" presId="urn:microsoft.com/office/officeart/2009/3/layout/HorizontalOrganizationChart"/>
    <dgm:cxn modelId="{85CD9D3A-4E25-8044-9537-486AF3A14FBA}" type="presParOf" srcId="{9D3EFA35-C902-5842-9F7F-80030036F94D}" destId="{D4802A93-F52C-5D4B-9FC9-693A53B087F2}" srcOrd="0" destOrd="0" presId="urn:microsoft.com/office/officeart/2009/3/layout/HorizontalOrganizationChart"/>
    <dgm:cxn modelId="{AECAD166-42CB-C64F-9D91-56372A4DA547}" type="presParOf" srcId="{9D3EFA35-C902-5842-9F7F-80030036F94D}" destId="{0A470D5A-C9C4-9440-A016-3CBC3FC5D91F}" srcOrd="1" destOrd="0" presId="urn:microsoft.com/office/officeart/2009/3/layout/HorizontalOrganizationChart"/>
    <dgm:cxn modelId="{3ACBCA20-9E40-5D4B-9779-B9E6B3C5D185}" type="presParOf" srcId="{87E35076-3E3F-6E41-BFDF-389521E79436}" destId="{752A6AC9-1C75-964E-B6A1-7E248FE2E128}" srcOrd="1" destOrd="0" presId="urn:microsoft.com/office/officeart/2009/3/layout/HorizontalOrganizationChart"/>
    <dgm:cxn modelId="{BC1FD2DB-3B80-D84F-A60D-A3DA685F328D}" type="presParOf" srcId="{87E35076-3E3F-6E41-BFDF-389521E79436}" destId="{4C1F3356-6D55-C045-A473-C14759BDFA84}" srcOrd="2" destOrd="0" presId="urn:microsoft.com/office/officeart/2009/3/layout/HorizontalOrganizationChart"/>
    <dgm:cxn modelId="{3283C721-C54E-0A47-A8B4-6E3D81EEB407}" type="presParOf" srcId="{285EEDEE-40F6-4B4A-A960-44C8B51451E2}" destId="{1662984A-A386-784B-9529-FD820D0CED2E}" srcOrd="2" destOrd="0" presId="urn:microsoft.com/office/officeart/2009/3/layout/HorizontalOrganizationChart"/>
    <dgm:cxn modelId="{91897A18-29C3-AC4E-AB2B-E10B2B72987D}" type="presParOf" srcId="{E2E5EDC0-874D-9941-81E7-82625885828B}" destId="{597E170E-E495-1A4B-B2C6-863A6A1F1C1F}" srcOrd="2" destOrd="0" presId="urn:microsoft.com/office/officeart/2009/3/layout/HorizontalOrganizationChart"/>
    <dgm:cxn modelId="{B8931F3F-CAE2-6645-BF45-D67F1F26A31E}" type="presParOf" srcId="{E2E5EDC0-874D-9941-81E7-82625885828B}" destId="{031C31DC-A472-5242-A19C-1FC321CC58B4}" srcOrd="3" destOrd="0" presId="urn:microsoft.com/office/officeart/2009/3/layout/HorizontalOrganizationChart"/>
    <dgm:cxn modelId="{54B9837A-6FBB-804A-A251-9AEF413A05F0}" type="presParOf" srcId="{031C31DC-A472-5242-A19C-1FC321CC58B4}" destId="{F2D505C1-2472-124A-9BA8-F2AD70E091F8}" srcOrd="0" destOrd="0" presId="urn:microsoft.com/office/officeart/2009/3/layout/HorizontalOrganizationChart"/>
    <dgm:cxn modelId="{F658F293-6F9A-B846-9F19-2E6071C9B422}" type="presParOf" srcId="{F2D505C1-2472-124A-9BA8-F2AD70E091F8}" destId="{E3BBF1FF-0F76-0C47-98CE-E493A97CFD7B}" srcOrd="0" destOrd="0" presId="urn:microsoft.com/office/officeart/2009/3/layout/HorizontalOrganizationChart"/>
    <dgm:cxn modelId="{4350FE18-8B88-8D4E-A32C-D653F1B5D197}" type="presParOf" srcId="{F2D505C1-2472-124A-9BA8-F2AD70E091F8}" destId="{E4BE2366-572F-E243-999C-1B05A40A47C1}" srcOrd="1" destOrd="0" presId="urn:microsoft.com/office/officeart/2009/3/layout/HorizontalOrganizationChart"/>
    <dgm:cxn modelId="{160CF257-BD77-3F4F-A8B6-596CC3740C0A}" type="presParOf" srcId="{031C31DC-A472-5242-A19C-1FC321CC58B4}" destId="{FE3539B7-78A4-7849-8DF0-6CE5B7940C60}" srcOrd="1" destOrd="0" presId="urn:microsoft.com/office/officeart/2009/3/layout/HorizontalOrganizationChart"/>
    <dgm:cxn modelId="{0417C17D-CC6C-194A-A178-7848E41D6AB3}" type="presParOf" srcId="{FE3539B7-78A4-7849-8DF0-6CE5B7940C60}" destId="{587643DD-2498-9348-96C6-E3FF9B61E15D}" srcOrd="0" destOrd="0" presId="urn:microsoft.com/office/officeart/2009/3/layout/HorizontalOrganizationChart"/>
    <dgm:cxn modelId="{BD3BB414-A41B-2245-B246-B30FB6E21B6E}" type="presParOf" srcId="{FE3539B7-78A4-7849-8DF0-6CE5B7940C60}" destId="{C00845A6-905D-5C42-8B01-F2DE55821A0E}" srcOrd="1" destOrd="0" presId="urn:microsoft.com/office/officeart/2009/3/layout/HorizontalOrganizationChart"/>
    <dgm:cxn modelId="{A062232A-1BC7-9A44-8930-83091FA2D7CC}" type="presParOf" srcId="{C00845A6-905D-5C42-8B01-F2DE55821A0E}" destId="{D09B6B5F-9128-8248-AA1E-9B3E6BEAD1F1}" srcOrd="0" destOrd="0" presId="urn:microsoft.com/office/officeart/2009/3/layout/HorizontalOrganizationChart"/>
    <dgm:cxn modelId="{6DE8B9EB-C417-3F49-9B86-9B320BBD5EE6}" type="presParOf" srcId="{D09B6B5F-9128-8248-AA1E-9B3E6BEAD1F1}" destId="{6EAA9F60-60F0-D342-97A5-E9D5026A3EF7}" srcOrd="0" destOrd="0" presId="urn:microsoft.com/office/officeart/2009/3/layout/HorizontalOrganizationChart"/>
    <dgm:cxn modelId="{AB306FAB-2636-7F43-AFAC-EA7DCE078274}" type="presParOf" srcId="{D09B6B5F-9128-8248-AA1E-9B3E6BEAD1F1}" destId="{CE646E2C-245C-1C43-A4DD-C6324D700DD3}" srcOrd="1" destOrd="0" presId="urn:microsoft.com/office/officeart/2009/3/layout/HorizontalOrganizationChart"/>
    <dgm:cxn modelId="{2011BE0B-5E51-E348-9A4F-3CEB5B95BBCF}" type="presParOf" srcId="{C00845A6-905D-5C42-8B01-F2DE55821A0E}" destId="{224D13A0-2F79-6A41-8572-51BAAA0A0AF0}" srcOrd="1" destOrd="0" presId="urn:microsoft.com/office/officeart/2009/3/layout/HorizontalOrganizationChart"/>
    <dgm:cxn modelId="{22948FD8-C00D-E942-B6FB-183E72055A6B}" type="presParOf" srcId="{C00845A6-905D-5C42-8B01-F2DE55821A0E}" destId="{4FD5FDFB-E236-184C-9D38-F2640BF0B1EE}" srcOrd="2" destOrd="0" presId="urn:microsoft.com/office/officeart/2009/3/layout/HorizontalOrganizationChart"/>
    <dgm:cxn modelId="{3383AC28-A2ED-AB4A-99D0-9D691D8A409B}" type="presParOf" srcId="{031C31DC-A472-5242-A19C-1FC321CC58B4}" destId="{24470A00-798F-2142-B065-4EADC149CE8F}" srcOrd="2" destOrd="0" presId="urn:microsoft.com/office/officeart/2009/3/layout/HorizontalOrganizationChart"/>
    <dgm:cxn modelId="{7D81C496-C263-8E46-AD1A-55A13CDFBD81}" type="presParOf" srcId="{6CF4169A-642E-A34C-ADAE-105E823219DE}" destId="{4D84F5D6-9EE4-E44E-A294-F2B2FFAC11C9}" srcOrd="2" destOrd="0" presId="urn:microsoft.com/office/officeart/2009/3/layout/Horizontal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643DD-2498-9348-96C6-E3FF9B61E15D}">
      <dsp:nvSpPr>
        <dsp:cNvPr id="0" name=""/>
        <dsp:cNvSpPr/>
      </dsp:nvSpPr>
      <dsp:spPr>
        <a:xfrm>
          <a:off x="2080722" y="1017635"/>
          <a:ext cx="314498" cy="362913"/>
        </a:xfrm>
        <a:custGeom>
          <a:avLst/>
          <a:gdLst/>
          <a:ahLst/>
          <a:cxnLst/>
          <a:rect l="0" t="0" r="0" b="0"/>
          <a:pathLst>
            <a:path>
              <a:moveTo>
                <a:pt x="0" y="362913"/>
              </a:moveTo>
              <a:lnTo>
                <a:pt x="203458" y="362913"/>
              </a:lnTo>
              <a:lnTo>
                <a:pt x="203458" y="0"/>
              </a:lnTo>
              <a:lnTo>
                <a:pt x="314498" y="0"/>
              </a:lnTo>
            </a:path>
          </a:pathLst>
        </a:cu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E170E-E495-1A4B-B2C6-863A6A1F1C1F}">
      <dsp:nvSpPr>
        <dsp:cNvPr id="0" name=""/>
        <dsp:cNvSpPr/>
      </dsp:nvSpPr>
      <dsp:spPr>
        <a:xfrm>
          <a:off x="901298" y="869873"/>
          <a:ext cx="273405" cy="51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2365" y="0"/>
              </a:lnTo>
              <a:lnTo>
                <a:pt x="162365" y="510675"/>
              </a:lnTo>
              <a:lnTo>
                <a:pt x="273405" y="510675"/>
              </a:lnTo>
            </a:path>
          </a:pathLst>
        </a:custGeom>
        <a:noFill/>
        <a:ln w="1905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9477D8-FF3A-E946-841F-69D7C3A535FC}">
      <dsp:nvSpPr>
        <dsp:cNvPr id="0" name=""/>
        <dsp:cNvSpPr/>
      </dsp:nvSpPr>
      <dsp:spPr>
        <a:xfrm>
          <a:off x="2071306" y="431820"/>
          <a:ext cx="297986" cy="1201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6946" y="0"/>
              </a:lnTo>
              <a:lnTo>
                <a:pt x="186946" y="1201044"/>
              </a:lnTo>
              <a:lnTo>
                <a:pt x="297986" y="1201044"/>
              </a:lnTo>
            </a:path>
          </a:pathLst>
        </a:cu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EB8061-29EB-BB49-A839-9FA0FAC75632}">
      <dsp:nvSpPr>
        <dsp:cNvPr id="0" name=""/>
        <dsp:cNvSpPr/>
      </dsp:nvSpPr>
      <dsp:spPr>
        <a:xfrm>
          <a:off x="2071306" y="306248"/>
          <a:ext cx="394557" cy="125571"/>
        </a:xfrm>
        <a:custGeom>
          <a:avLst/>
          <a:gdLst/>
          <a:ahLst/>
          <a:cxnLst/>
          <a:rect l="0" t="0" r="0" b="0"/>
          <a:pathLst>
            <a:path>
              <a:moveTo>
                <a:pt x="0" y="125571"/>
              </a:moveTo>
              <a:lnTo>
                <a:pt x="283517" y="125571"/>
              </a:lnTo>
              <a:lnTo>
                <a:pt x="283517" y="0"/>
              </a:lnTo>
              <a:lnTo>
                <a:pt x="394557" y="0"/>
              </a:lnTo>
            </a:path>
          </a:pathLst>
        </a:cu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6D6E1B-3D84-CD4F-A4F3-2A08B258F92F}">
      <dsp:nvSpPr>
        <dsp:cNvPr id="0" name=""/>
        <dsp:cNvSpPr/>
      </dsp:nvSpPr>
      <dsp:spPr>
        <a:xfrm>
          <a:off x="901298" y="431820"/>
          <a:ext cx="268653" cy="438052"/>
        </a:xfrm>
        <a:custGeom>
          <a:avLst/>
          <a:gdLst/>
          <a:ahLst/>
          <a:cxnLst/>
          <a:rect l="0" t="0" r="0" b="0"/>
          <a:pathLst>
            <a:path>
              <a:moveTo>
                <a:pt x="0" y="438052"/>
              </a:moveTo>
              <a:lnTo>
                <a:pt x="157613" y="438052"/>
              </a:lnTo>
              <a:lnTo>
                <a:pt x="157613" y="0"/>
              </a:lnTo>
              <a:lnTo>
                <a:pt x="268653" y="0"/>
              </a:lnTo>
            </a:path>
          </a:pathLst>
        </a:custGeom>
        <a:noFill/>
        <a:ln w="1905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B3097-F37E-714B-B58D-E929B7C96091}">
      <dsp:nvSpPr>
        <dsp:cNvPr id="0" name=""/>
        <dsp:cNvSpPr/>
      </dsp:nvSpPr>
      <dsp:spPr>
        <a:xfrm>
          <a:off x="0" y="363423"/>
          <a:ext cx="901298" cy="1012898"/>
        </a:xfrm>
        <a:prstGeom prst="rect">
          <a:avLst/>
        </a:prstGeom>
        <a:solidFill>
          <a:schemeClr val="tx1">
            <a:lumMod val="50000"/>
            <a:lumOff val="50000"/>
            <a:alpha val="20854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000" b="0" i="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Within subjects (N=34</a:t>
          </a:r>
          <a:r>
            <a:rPr lang="en-AE" sz="2000" b="0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)</a:t>
          </a:r>
          <a:endParaRPr lang="en-US" sz="2000" b="0" i="0" kern="1200">
            <a:solidFill>
              <a:schemeClr val="tx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0" y="363423"/>
        <a:ext cx="901298" cy="1012898"/>
      </dsp:txXfrm>
    </dsp:sp>
    <dsp:sp modelId="{35AF1ED7-3A77-D84C-AFBA-87B045313FAA}">
      <dsp:nvSpPr>
        <dsp:cNvPr id="0" name=""/>
        <dsp:cNvSpPr/>
      </dsp:nvSpPr>
      <dsp:spPr>
        <a:xfrm>
          <a:off x="1169952" y="54579"/>
          <a:ext cx="901354" cy="754481"/>
        </a:xfrm>
        <a:prstGeom prst="rect">
          <a:avLst/>
        </a:prstGeom>
        <a:solidFill>
          <a:schemeClr val="accent4">
            <a:lumMod val="75000"/>
            <a:alpha val="73441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Non-Salience</a:t>
          </a:r>
        </a:p>
      </dsp:txBody>
      <dsp:txXfrm>
        <a:off x="1169952" y="54579"/>
        <a:ext cx="901354" cy="754481"/>
      </dsp:txXfrm>
    </dsp:sp>
    <dsp:sp modelId="{A88BFECA-9E55-6541-AF30-9BC19E7C6E60}">
      <dsp:nvSpPr>
        <dsp:cNvPr id="0" name=""/>
        <dsp:cNvSpPr/>
      </dsp:nvSpPr>
      <dsp:spPr>
        <a:xfrm>
          <a:off x="2465864" y="53987"/>
          <a:ext cx="1924319" cy="504522"/>
        </a:xfrm>
        <a:prstGeom prst="rect">
          <a:avLst/>
        </a:prstGeom>
        <a:solidFill>
          <a:schemeClr val="bg1">
            <a:lumMod val="85000"/>
            <a:alpha val="35081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EDA (autonomic activity)</a:t>
          </a:r>
        </a:p>
      </dsp:txBody>
      <dsp:txXfrm>
        <a:off x="2465864" y="53987"/>
        <a:ext cx="1924319" cy="504522"/>
      </dsp:txXfrm>
    </dsp:sp>
    <dsp:sp modelId="{D4802A93-F52C-5D4B-9FC9-693A53B087F2}">
      <dsp:nvSpPr>
        <dsp:cNvPr id="0" name=""/>
        <dsp:cNvSpPr/>
      </dsp:nvSpPr>
      <dsp:spPr>
        <a:xfrm>
          <a:off x="2369293" y="1427440"/>
          <a:ext cx="1853021" cy="410849"/>
        </a:xfrm>
        <a:prstGeom prst="rect">
          <a:avLst/>
        </a:prstGeom>
        <a:solidFill>
          <a:schemeClr val="bg1">
            <a:lumMod val="85000"/>
            <a:alpha val="40902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EEG (N2 activity)</a:t>
          </a:r>
        </a:p>
      </dsp:txBody>
      <dsp:txXfrm>
        <a:off x="2369293" y="1427440"/>
        <a:ext cx="1853021" cy="410849"/>
      </dsp:txXfrm>
    </dsp:sp>
    <dsp:sp modelId="{E3BBF1FF-0F76-0C47-98CE-E493A97CFD7B}">
      <dsp:nvSpPr>
        <dsp:cNvPr id="0" name=""/>
        <dsp:cNvSpPr/>
      </dsp:nvSpPr>
      <dsp:spPr>
        <a:xfrm>
          <a:off x="1174704" y="965696"/>
          <a:ext cx="906018" cy="829704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Low-level</a:t>
          </a:r>
          <a:r>
            <a:rPr lang="en-US" sz="2000" b="0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Salience</a:t>
          </a:r>
        </a:p>
      </dsp:txBody>
      <dsp:txXfrm>
        <a:off x="1174704" y="965696"/>
        <a:ext cx="906018" cy="829704"/>
      </dsp:txXfrm>
    </dsp:sp>
    <dsp:sp modelId="{6EAA9F60-60F0-D342-97A5-E9D5026A3EF7}">
      <dsp:nvSpPr>
        <dsp:cNvPr id="0" name=""/>
        <dsp:cNvSpPr/>
      </dsp:nvSpPr>
      <dsp:spPr>
        <a:xfrm>
          <a:off x="2395220" y="672080"/>
          <a:ext cx="2001436" cy="691109"/>
        </a:xfrm>
        <a:prstGeom prst="rect">
          <a:avLst/>
        </a:prstGeom>
        <a:solidFill>
          <a:schemeClr val="bg2">
            <a:lumMod val="90000"/>
            <a:alpha val="38764"/>
          </a:schemeClr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Flanker Task (inhibitory control)</a:t>
          </a:r>
        </a:p>
      </dsp:txBody>
      <dsp:txXfrm>
        <a:off x="2395220" y="672080"/>
        <a:ext cx="2001436" cy="691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D79D0-DC43-A046-A3B2-7AD209267832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10FBE-39C7-0843-BA2A-C0C7B8EBBD8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1367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10FBE-39C7-0843-BA2A-C0C7B8EBBD8B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638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317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4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060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771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79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9739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5361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604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6210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161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01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C49D2-6C02-E84D-BCFC-80D204101194}" type="datetimeFigureOut">
              <a:rPr lang="en-AE" smtClean="0"/>
              <a:t>06/04/2026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13C8C-3A6F-7B48-9076-5D13EEB6C8F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696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svg"/><Relationship Id="rId5" Type="http://schemas.openxmlformats.org/officeDocument/2006/relationships/diagramLayout" Target="../diagrams/layout1.xml"/><Relationship Id="rId15" Type="http://schemas.openxmlformats.org/officeDocument/2006/relationships/image" Target="../media/image8.svg"/><Relationship Id="rId10" Type="http://schemas.openxmlformats.org/officeDocument/2006/relationships/image" Target="../media/image3.svg"/><Relationship Id="rId4" Type="http://schemas.openxmlformats.org/officeDocument/2006/relationships/diagramData" Target="../diagrams/data1.xml"/><Relationship Id="rId9" Type="http://schemas.openxmlformats.org/officeDocument/2006/relationships/image" Target="../media/image2.svg"/><Relationship Id="rId1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69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ADD27A-75B8-3AB5-F6E1-5E7AE22BB18A}"/>
              </a:ext>
            </a:extLst>
          </p:cNvPr>
          <p:cNvSpPr txBox="1"/>
          <p:nvPr/>
        </p:nvSpPr>
        <p:spPr>
          <a:xfrm>
            <a:off x="217983" y="1557451"/>
            <a:ext cx="4748596" cy="1471211"/>
          </a:xfrm>
          <a:prstGeom prst="rect">
            <a:avLst/>
          </a:prstGeom>
          <a:noFill/>
        </p:spPr>
        <p:txBody>
          <a:bodyPr wrap="square" lIns="0" tIns="0" rIns="36000" bIns="0" rtlCol="0">
            <a:noAutofit/>
          </a:bodyPr>
          <a:lstStyle/>
          <a:p>
            <a:pPr marL="140400" indent="-1404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ea typeface="Apple Color Emoji" pitchFamily="2" charset="0"/>
                <a:cs typeface="Calibri Light" panose="020F0302020204030204" pitchFamily="34" charset="0"/>
              </a:rPr>
              <a:t>Examines how low-level salience influences Autonomic Nervous System (ANS) activity and executive Function (EF)/inhibitory Control.</a:t>
            </a:r>
          </a:p>
          <a:p>
            <a:pPr>
              <a:lnSpc>
                <a:spcPts val="800"/>
              </a:lnSpc>
              <a:buSzPct val="80000"/>
            </a:pPr>
            <a:endParaRPr lang="en-GB" sz="2000" spc="-100" dirty="0">
              <a:latin typeface="Calibri Light" panose="020F0302020204030204" pitchFamily="34" charset="0"/>
              <a:ea typeface="Apple Color Emoji" pitchFamily="2" charset="0"/>
              <a:cs typeface="Calibri Light" panose="020F0302020204030204" pitchFamily="34" charset="0"/>
            </a:endParaRPr>
          </a:p>
          <a:p>
            <a:pPr marL="140400" indent="-140400">
              <a:lnSpc>
                <a:spcPts val="2000"/>
              </a:lnSpc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ea typeface="Apple Color Emoji" pitchFamily="2" charset="0"/>
                <a:cs typeface="Calibri Light" panose="020F0302020204030204" pitchFamily="34" charset="0"/>
              </a:rPr>
              <a:t>Salience effects underexplored beyond clinical/stress contexts.</a:t>
            </a:r>
          </a:p>
          <a:p>
            <a:pPr lvl="1"/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A2AAA-94C2-2D37-767B-D39DE53A0326}"/>
              </a:ext>
            </a:extLst>
          </p:cNvPr>
          <p:cNvSpPr txBox="1"/>
          <p:nvPr/>
        </p:nvSpPr>
        <p:spPr>
          <a:xfrm>
            <a:off x="5186442" y="4705200"/>
            <a:ext cx="4450038" cy="4656548"/>
          </a:xfrm>
          <a:prstGeom prst="rect">
            <a:avLst/>
          </a:prstGeom>
          <a:solidFill>
            <a:schemeClr val="bg2">
              <a:lumMod val="90000"/>
              <a:alpha val="26039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140400" indent="-140400">
              <a:lnSpc>
                <a:spcPts val="19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</a:pPr>
            <a:r>
              <a:rPr lang="en-GB" sz="20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Ethics: Informed consent, study briefing and pre-screening (STICSA) provided.</a:t>
            </a:r>
          </a:p>
          <a:p>
            <a:pPr marL="140400" indent="-140400">
              <a:lnSpc>
                <a:spcPts val="19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</a:pPr>
            <a:r>
              <a:rPr lang="en-GB" sz="20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Data </a:t>
            </a:r>
            <a:r>
              <a:rPr lang="en-GB" sz="2000" spc="-50" noProof="1">
                <a:latin typeface="Calibri Light" panose="020F0302020204030204" pitchFamily="34" charset="0"/>
                <a:cs typeface="Calibri Light" panose="020F0302020204030204" pitchFamily="34" charset="0"/>
              </a:rPr>
              <a:t>anonymised</a:t>
            </a:r>
            <a:r>
              <a:rPr lang="en-GB" sz="20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, securely stored.</a:t>
            </a:r>
          </a:p>
          <a:p>
            <a:pPr marL="140400" indent="-140400">
              <a:lnSpc>
                <a:spcPts val="19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</a:pPr>
            <a:r>
              <a:rPr lang="en-GB" sz="20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Non-invasive EEG/EDA. (mild discomfort/skin irritation; breaks &amp; withdrawal anytime). Participants monitored throughout.</a:t>
            </a:r>
          </a:p>
          <a:p>
            <a:pPr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SzPct val="80000"/>
            </a:pPr>
            <a:endParaRPr lang="en-GB" sz="2000" spc="-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0400" indent="-140400"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</a:pPr>
            <a:r>
              <a:rPr lang="en-GB" sz="2000" b="1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Expected </a:t>
            </a:r>
          </a:p>
          <a:p>
            <a:pPr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SzPct val="80000"/>
            </a:pPr>
            <a:r>
              <a:rPr lang="en-GB" sz="2000" b="1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   Results:</a:t>
            </a:r>
          </a:p>
          <a:p>
            <a:pPr algn="just">
              <a:lnSpc>
                <a:spcPts val="1700"/>
              </a:lnSpc>
              <a:spcBef>
                <a:spcPts val="400"/>
              </a:spcBef>
              <a:spcAft>
                <a:spcPts val="400"/>
              </a:spcAft>
              <a:buSzPct val="70000"/>
            </a:pPr>
            <a:endParaRPr lang="en-GB" sz="2000" b="1" spc="-60" dirty="0">
              <a:latin typeface="Aptos Light" panose="020B0004020202020204" pitchFamily="34" charset="0"/>
            </a:endParaRPr>
          </a:p>
          <a:p>
            <a:pPr marL="2171700" lvl="4" indent="-342900" algn="just">
              <a:lnSpc>
                <a:spcPts val="176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algn="just">
              <a:lnSpc>
                <a:spcPts val="1760"/>
              </a:lnSpc>
              <a:spcBef>
                <a:spcPts val="600"/>
              </a:spcBef>
              <a:buSzPct val="80000"/>
            </a:pPr>
            <a:endParaRPr lang="en-GB" sz="2000" b="1" dirty="0"/>
          </a:p>
          <a:p>
            <a:pPr algn="just"/>
            <a:endParaRPr lang="en-GB" b="1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08BAEB-E9C4-D033-AE52-0EA060B57D9E}"/>
              </a:ext>
            </a:extLst>
          </p:cNvPr>
          <p:cNvSpPr/>
          <p:nvPr/>
        </p:nvSpPr>
        <p:spPr>
          <a:xfrm>
            <a:off x="-22860" y="10613785"/>
            <a:ext cx="15119350" cy="656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73CE7C-9287-B2AA-72D7-53748807556A}"/>
              </a:ext>
            </a:extLst>
          </p:cNvPr>
          <p:cNvSpPr/>
          <p:nvPr/>
        </p:nvSpPr>
        <p:spPr>
          <a:xfrm>
            <a:off x="-26866" y="0"/>
            <a:ext cx="72585" cy="1062617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E923C-8187-7608-272B-15256518694C}"/>
              </a:ext>
            </a:extLst>
          </p:cNvPr>
          <p:cNvSpPr/>
          <p:nvPr/>
        </p:nvSpPr>
        <p:spPr>
          <a:xfrm>
            <a:off x="15069281" y="-6194"/>
            <a:ext cx="45719" cy="1062617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3B050C-654D-5629-B8F9-8F2999CF2C3A}"/>
              </a:ext>
            </a:extLst>
          </p:cNvPr>
          <p:cNvSpPr txBox="1"/>
          <p:nvPr/>
        </p:nvSpPr>
        <p:spPr>
          <a:xfrm>
            <a:off x="184966" y="5989951"/>
            <a:ext cx="4899638" cy="7805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40400" indent="-140400">
              <a:lnSpc>
                <a:spcPts val="17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Healthy EF develops progressively with PFC maturation and is influenced by physiological/ environmental conditions (Diamond, 2013).</a:t>
            </a:r>
          </a:p>
          <a:p>
            <a:pPr marL="140400" indent="-140400">
              <a:lnSpc>
                <a:spcPts val="1800"/>
              </a:lnSpc>
              <a:buSzPct val="80000"/>
              <a:buFont typeface="Arial" panose="020B0604020202020204" pitchFamily="34" charset="0"/>
              <a:buChar char="•"/>
            </a:pPr>
            <a:endParaRPr lang="en-GB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FBAE9-9A9D-7B42-B395-624DCDB75A2C}"/>
              </a:ext>
            </a:extLst>
          </p:cNvPr>
          <p:cNvSpPr txBox="1"/>
          <p:nvPr/>
        </p:nvSpPr>
        <p:spPr>
          <a:xfrm>
            <a:off x="137964" y="3416696"/>
            <a:ext cx="4772717" cy="856525"/>
          </a:xfrm>
          <a:prstGeom prst="rect">
            <a:avLst/>
          </a:prstGeom>
          <a:noFill/>
        </p:spPr>
        <p:txBody>
          <a:bodyPr wrap="square" lIns="36000" tIns="0" rIns="0" bIns="0" rtlCol="0">
            <a:noAutofit/>
          </a:bodyPr>
          <a:lstStyle/>
          <a:p>
            <a:pPr marL="180000" indent="-1800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PFC regions support EFs: dorsolateral (working memory), ventrolateral (inhibitory control), and orbitofrontal (emotion) (Ward, 2020).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6AEB35-6948-6CEF-CF64-81370675CF76}"/>
              </a:ext>
            </a:extLst>
          </p:cNvPr>
          <p:cNvSpPr txBox="1"/>
          <p:nvPr/>
        </p:nvSpPr>
        <p:spPr>
          <a:xfrm>
            <a:off x="49730" y="6650424"/>
            <a:ext cx="4862775" cy="2891561"/>
          </a:xfrm>
          <a:prstGeom prst="rect">
            <a:avLst/>
          </a:prstGeom>
          <a:noFill/>
        </p:spPr>
        <p:txBody>
          <a:bodyPr wrap="square" lIns="144000" rtlCol="0">
            <a:spAutoFit/>
          </a:bodyPr>
          <a:lstStyle/>
          <a:p>
            <a:pPr marL="140400" indent="-1404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PFC overlaps with ANS regulatory networks; parasympathetic activity supports EF by maintaining PFC regulation (Thayer et al., 2009).</a:t>
            </a:r>
          </a:p>
          <a:p>
            <a:pPr marL="140400" indent="-140400">
              <a:lnSpc>
                <a:spcPts val="1000"/>
              </a:lnSpc>
              <a:buSzPct val="80000"/>
              <a:buFont typeface="Arial" panose="020B0604020202020204" pitchFamily="34" charset="0"/>
              <a:buChar char="•"/>
            </a:pPr>
            <a:endParaRPr lang="en-GB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40400" indent="-1404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In contrast, Sympathetic activity disrupts PFC control, shifting toward automatic, amygdala-driven responses (Arnsten, 2009).</a:t>
            </a:r>
          </a:p>
          <a:p>
            <a:pPr marL="140400" indent="-140400">
              <a:lnSpc>
                <a:spcPts val="1000"/>
              </a:lnSpc>
              <a:buSzPct val="80000"/>
              <a:buFont typeface="Arial" panose="020B0604020202020204" pitchFamily="34" charset="0"/>
              <a:buChar char="•"/>
            </a:pPr>
            <a:endParaRPr lang="en-GB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40400" indent="-1404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ANS activity fluctuates even at rest, indicating continuous influence on EF (Valenza et al., 2020).</a:t>
            </a:r>
          </a:p>
        </p:txBody>
      </p:sp>
      <p:sp>
        <p:nvSpPr>
          <p:cNvPr id="70" name="Round Same Side Corner Rectangle 69">
            <a:extLst>
              <a:ext uri="{FF2B5EF4-FFF2-40B4-BE49-F238E27FC236}">
                <a16:creationId xmlns:a16="http://schemas.microsoft.com/office/drawing/2014/main" id="{8AB2CD3E-9A14-0F5B-56FB-00EC7C483E76}"/>
              </a:ext>
            </a:extLst>
          </p:cNvPr>
          <p:cNvSpPr/>
          <p:nvPr/>
        </p:nvSpPr>
        <p:spPr>
          <a:xfrm>
            <a:off x="5195584" y="3917865"/>
            <a:ext cx="4450038" cy="725208"/>
          </a:xfrm>
          <a:prstGeom prst="round2SameRect">
            <a:avLst/>
          </a:prstGeom>
          <a:solidFill>
            <a:schemeClr val="accent6">
              <a:lumMod val="75000"/>
              <a:alpha val="28317"/>
            </a:schemeClr>
          </a:solidFill>
          <a:ln w="0">
            <a:solidFill>
              <a:srgbClr val="FF0000">
                <a:alpha val="79000"/>
              </a:srgbClr>
            </a:solidFill>
            <a:headEnd type="none" w="med" len="med"/>
            <a:tailEnd type="none" w="med" len="med"/>
          </a:ln>
          <a:effectLst>
            <a:reflection stA="45000" endPos="0" dir="5400000" sy="-100000" algn="bl" rotWithShape="0"/>
            <a:softEdge rad="30423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8000" tIns="251999" bIns="432000" rtlCol="0" anchor="ctr"/>
          <a:lstStyle/>
          <a:p>
            <a:pPr algn="ctr">
              <a:lnSpc>
                <a:spcPts val="1700"/>
              </a:lnSpc>
            </a:pPr>
            <a:endParaRPr lang="en-GB" sz="2000" spc="-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lnSpc>
                <a:spcPts val="1700"/>
              </a:lnSpc>
              <a:buSzPct val="80000"/>
              <a:buFont typeface="Arial" panose="020B0604020202020204" pitchFamily="34" charset="0"/>
              <a:buChar char="•"/>
            </a:pPr>
            <a:endParaRPr lang="en-GB" sz="2000" spc="-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0400" indent="-140400" algn="ctr">
              <a:lnSpc>
                <a:spcPts val="17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000" spc="-4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↑</a:t>
            </a:r>
            <a:r>
              <a:rPr lang="en-GB" sz="20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 EDA  </a:t>
            </a:r>
          </a:p>
          <a:p>
            <a:pPr marL="140400" indent="-140400" algn="ctr">
              <a:lnSpc>
                <a:spcPts val="17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4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↓</a:t>
            </a:r>
            <a:r>
              <a:rPr lang="en-GB" sz="20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 inhibitory control (</a:t>
            </a:r>
            <a:r>
              <a:rPr lang="en-GB" sz="2000" spc="-4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↑</a:t>
            </a:r>
            <a:r>
              <a:rPr lang="en-GB" sz="20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 errors, slower RT) </a:t>
            </a:r>
          </a:p>
          <a:p>
            <a:pPr marL="140400" indent="-140400" algn="ctr">
              <a:lnSpc>
                <a:spcPts val="17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 EEG: </a:t>
            </a:r>
            <a:r>
              <a:rPr lang="en-GB" sz="2000" spc="-4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↑</a:t>
            </a:r>
            <a:r>
              <a:rPr lang="en-GB" sz="2000" spc="-40" dirty="0">
                <a:latin typeface="Calibri Light" panose="020F0302020204030204" pitchFamily="34" charset="0"/>
                <a:cs typeface="Calibri Light" panose="020F0302020204030204" pitchFamily="34" charset="0"/>
              </a:rPr>
              <a:t> N2 amplitude</a:t>
            </a:r>
          </a:p>
          <a:p>
            <a:pPr marL="68400" indent="-68400" algn="ctr">
              <a:lnSpc>
                <a:spcPts val="1500"/>
              </a:lnSpc>
              <a:buSzPct val="80000"/>
              <a:buFont typeface="Arial" panose="020B0604020202020204" pitchFamily="34" charset="0"/>
              <a:buChar char="•"/>
            </a:pPr>
            <a:endParaRPr lang="en-GB" sz="2000" spc="-40" dirty="0">
              <a:latin typeface="Aptos Light" panose="020B00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B044ED-1237-B15E-1C1A-808F96583A5B}"/>
              </a:ext>
            </a:extLst>
          </p:cNvPr>
          <p:cNvSpPr txBox="1"/>
          <p:nvPr/>
        </p:nvSpPr>
        <p:spPr>
          <a:xfrm>
            <a:off x="9859554" y="1531758"/>
            <a:ext cx="5186364" cy="1953987"/>
          </a:xfrm>
          <a:prstGeom prst="rect">
            <a:avLst/>
          </a:prstGeom>
          <a:solidFill>
            <a:schemeClr val="bg1">
              <a:lumMod val="85000"/>
              <a:alpha val="11000"/>
            </a:schemeClr>
          </a:solidFill>
        </p:spPr>
        <p:txBody>
          <a:bodyPr wrap="square" lIns="144000" tIns="0" rIns="180000" bIns="0" rtlCol="0">
            <a:noAutofit/>
          </a:bodyPr>
          <a:lstStyle/>
          <a:p>
            <a:pPr marL="140400" indent="-140400">
              <a:lnSpc>
                <a:spcPts val="22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cs typeface="Calibri Light" panose="020F0302020204030204" pitchFamily="34" charset="0"/>
              </a:rPr>
              <a:t>Correlational design: cannot establish causation.</a:t>
            </a:r>
          </a:p>
          <a:p>
            <a:pPr marL="140400" indent="-140400">
              <a:lnSpc>
                <a:spcPts val="22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cs typeface="Calibri Light" panose="020F0302020204030204" pitchFamily="34" charset="0"/>
              </a:rPr>
              <a:t>Flanker task: limited ecological validity (lab-based measure of EF).</a:t>
            </a:r>
          </a:p>
          <a:p>
            <a:pPr marL="140400" indent="-140400">
              <a:lnSpc>
                <a:spcPts val="22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cs typeface="Calibri Light" panose="020F0302020204030204" pitchFamily="34" charset="0"/>
              </a:rPr>
              <a:t>EDA variability: influenced by external and individual factors.</a:t>
            </a:r>
          </a:p>
          <a:p>
            <a:pPr marL="140400" indent="-140400">
              <a:lnSpc>
                <a:spcPts val="22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100" dirty="0">
                <a:latin typeface="Calibri Light" panose="020F0302020204030204" pitchFamily="34" charset="0"/>
                <a:cs typeface="Calibri Light" panose="020F0302020204030204" pitchFamily="34" charset="0"/>
              </a:rPr>
              <a:t>Sample size determined by a priori power analysis (G*Power), however may limit generalisability.</a:t>
            </a:r>
          </a:p>
          <a:p>
            <a:pPr>
              <a:lnSpc>
                <a:spcPts val="1700"/>
              </a:lnSpc>
              <a:spcBef>
                <a:spcPts val="100"/>
              </a:spcBef>
              <a:spcAft>
                <a:spcPts val="100"/>
              </a:spcAft>
              <a:buSzPct val="80000"/>
            </a:pPr>
            <a:endParaRPr lang="en-GB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F4897A-8D8A-F007-D07F-AFBE243D5ADB}"/>
              </a:ext>
            </a:extLst>
          </p:cNvPr>
          <p:cNvSpPr txBox="1"/>
          <p:nvPr/>
        </p:nvSpPr>
        <p:spPr>
          <a:xfrm>
            <a:off x="9930525" y="4056682"/>
            <a:ext cx="5186365" cy="65694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 defTabSz="3852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Arnsten, </a:t>
            </a:r>
            <a:r>
              <a:rPr lang="en-GB" sz="2000" spc="-50" dirty="0">
                <a:latin typeface="Calibri Light" panose="020F0302020204030204" pitchFamily="34" charset="0"/>
                <a:cs typeface="Calibri Light" panose="020F0302020204030204" pitchFamily="34" charset="0"/>
              </a:rPr>
              <a:t>A. F. T. </a:t>
            </a:r>
            <a:r>
              <a:rPr lang="en-GB" sz="2000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(2009). Stress signalling pathways that impair prefrontal cortex structure and function. </a:t>
            </a:r>
            <a:r>
              <a:rPr lang="en-GB" sz="2000" i="1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Nature Reviews Neuroscience, 10</a:t>
            </a:r>
            <a:r>
              <a:rPr lang="en-GB" sz="2000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(6), 410-422. https://</a:t>
            </a:r>
            <a:r>
              <a:rPr lang="en-GB" sz="2000" spc="-6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doi.org</a:t>
            </a:r>
            <a:r>
              <a:rPr lang="en-GB" sz="2000" spc="-60" dirty="0">
                <a:latin typeface="Calibri Light" panose="020F0302020204030204" pitchFamily="34" charset="0"/>
                <a:cs typeface="Calibri Light" panose="020F0302020204030204" pitchFamily="34" charset="0"/>
              </a:rPr>
              <a:t>/10.1038/nrn2648</a:t>
            </a:r>
          </a:p>
          <a:p>
            <a:pPr defTabSz="385200">
              <a:lnSpc>
                <a:spcPts val="800"/>
              </a:lnSpc>
              <a:buSzPct val="80000"/>
            </a:pPr>
            <a:endParaRPr lang="en-GB" sz="2000" spc="-60" dirty="0">
              <a:latin typeface="Calibri Light" panose="020F0302020204030204" pitchFamily="34" charset="0"/>
              <a:ea typeface="Microsoft YaHei UI Light" panose="020B0502040204020203" pitchFamily="34" charset="-122"/>
              <a:cs typeface="Calibri Light" panose="020F0302020204030204" pitchFamily="34" charset="0"/>
            </a:endParaRPr>
          </a:p>
          <a:p>
            <a:pPr marL="140400" indent="-140400" defTabSz="3852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Diamond, A. (2013). Executive functions</a:t>
            </a:r>
            <a:r>
              <a:rPr lang="en-GB" sz="2000" i="1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. Annual Review of Psychology, 64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, 135-168. https://</a:t>
            </a:r>
            <a:r>
              <a:rPr lang="en-GB" sz="2000" spc="-60" dirty="0" err="1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doi.org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/10.1146/annurev-psych-113011-143750</a:t>
            </a:r>
          </a:p>
          <a:p>
            <a:pPr defTabSz="385200">
              <a:lnSpc>
                <a:spcPts val="800"/>
              </a:lnSpc>
              <a:buSzPct val="80000"/>
            </a:pPr>
            <a:endParaRPr lang="en-GB" sz="2000" spc="-60" dirty="0">
              <a:latin typeface="Calibri Light" panose="020F0302020204030204" pitchFamily="34" charset="0"/>
              <a:ea typeface="Microsoft YaHei UI Light" panose="020B0502040204020203" pitchFamily="34" charset="-122"/>
              <a:cs typeface="Calibri Light" panose="020F0302020204030204" pitchFamily="34" charset="0"/>
            </a:endParaRPr>
          </a:p>
          <a:p>
            <a:pPr marL="140400" indent="-140400" defTabSz="3852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Thayer, J. F., Hansen, A. L., Saus-Rose, E., &amp; Johnsen, B. H. (2009). Heart rate variability, prefrontal neural function, and cognitive performance: The neurovisceral integration perspective on self-regulation, adaptation, and health</a:t>
            </a:r>
            <a:r>
              <a:rPr lang="en-GB" sz="2000" i="1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. Annals of Behavioural Medicine, 37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(2), 141-153.  https://</a:t>
            </a:r>
            <a:r>
              <a:rPr lang="en-GB" sz="2000" spc="-60" dirty="0" err="1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doi.org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/10.1007/s12160-009-9101-z</a:t>
            </a:r>
          </a:p>
          <a:p>
            <a:pPr marL="140400" indent="-140400" defTabSz="385200">
              <a:lnSpc>
                <a:spcPts val="800"/>
              </a:lnSpc>
              <a:buSzPct val="80000"/>
              <a:buFont typeface="Arial" panose="020B0604020202020204" pitchFamily="34" charset="0"/>
              <a:buChar char="•"/>
            </a:pPr>
            <a:endParaRPr lang="en-GB" sz="2000" spc="-60" dirty="0">
              <a:latin typeface="Calibri Light" panose="020F0302020204030204" pitchFamily="34" charset="0"/>
              <a:ea typeface="Microsoft YaHei UI Light" panose="020B0502040204020203" pitchFamily="34" charset="-122"/>
              <a:cs typeface="Calibri Light" panose="020F0302020204030204" pitchFamily="34" charset="0"/>
            </a:endParaRPr>
          </a:p>
          <a:p>
            <a:pPr marL="140400" indent="-140400" defTabSz="3852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Valenza, G., </a:t>
            </a:r>
            <a:r>
              <a:rPr lang="en-GB" sz="2000" spc="-60" dirty="0" err="1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Passamonti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, L., </a:t>
            </a:r>
            <a:r>
              <a:rPr lang="en-GB" sz="2000" spc="-60" dirty="0" err="1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Duggento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, A., Toschi, N., &amp; Barbieri, R. (2020). Uncovering complex central autonomic networks at rest: a functional magnetic resonance imaging study on complex cardiovascular oscillations. </a:t>
            </a:r>
            <a:r>
              <a:rPr lang="en-GB" sz="2000" i="1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Journal of the Royal Society Interface, 17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(164), 20190878. https://</a:t>
            </a:r>
            <a:r>
              <a:rPr lang="en-GB" sz="2000" spc="-60" dirty="0" err="1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doi.org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/10.1098/rsif.2019.0878</a:t>
            </a:r>
          </a:p>
          <a:p>
            <a:pPr defTabSz="385200">
              <a:lnSpc>
                <a:spcPts val="800"/>
              </a:lnSpc>
              <a:buSzPct val="80000"/>
            </a:pPr>
            <a:endParaRPr lang="en-GB" sz="2000" spc="-60" dirty="0">
              <a:latin typeface="Calibri Light" panose="020F0302020204030204" pitchFamily="34" charset="0"/>
              <a:ea typeface="Microsoft YaHei UI Light" panose="020B0502040204020203" pitchFamily="34" charset="-122"/>
              <a:cs typeface="Calibri Light" panose="020F0302020204030204" pitchFamily="34" charset="0"/>
            </a:endParaRPr>
          </a:p>
          <a:p>
            <a:pPr marL="140400" indent="-140400" defTabSz="385200">
              <a:lnSpc>
                <a:spcPts val="20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Ward, J. (2020). </a:t>
            </a:r>
            <a:r>
              <a:rPr lang="en-GB" sz="2000" i="1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The student’s guide to cognitive neuroscience </a:t>
            </a:r>
            <a:r>
              <a:rPr lang="en-GB" sz="2000" spc="-60" dirty="0">
                <a:latin typeface="Calibri Light" panose="020F0302020204030204" pitchFamily="34" charset="0"/>
                <a:ea typeface="Microsoft YaHei UI Light" panose="020B0502040204020203" pitchFamily="34" charset="-122"/>
                <a:cs typeface="Calibri Light" panose="020F0302020204030204" pitchFamily="34" charset="0"/>
              </a:rPr>
              <a:t>(4th Ed.). Routledge.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3F3C4DC-F72C-7E41-2F42-E4D793842AC4}"/>
              </a:ext>
            </a:extLst>
          </p:cNvPr>
          <p:cNvSpPr>
            <a:spLocks/>
          </p:cNvSpPr>
          <p:nvPr/>
        </p:nvSpPr>
        <p:spPr>
          <a:xfrm>
            <a:off x="5084604" y="1130980"/>
            <a:ext cx="4637978" cy="3416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Research Design &amp; Method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7B2A83B-26BE-FB82-6EA3-38847240EC5B}"/>
              </a:ext>
            </a:extLst>
          </p:cNvPr>
          <p:cNvSpPr/>
          <p:nvPr/>
        </p:nvSpPr>
        <p:spPr>
          <a:xfrm>
            <a:off x="123716" y="1137073"/>
            <a:ext cx="4786965" cy="32851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960E4D9-4772-C0DD-51B5-BDB86C250059}"/>
              </a:ext>
            </a:extLst>
          </p:cNvPr>
          <p:cNvSpPr/>
          <p:nvPr/>
        </p:nvSpPr>
        <p:spPr>
          <a:xfrm>
            <a:off x="124205" y="2998472"/>
            <a:ext cx="4842374" cy="37022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9BDD4683-D9D8-799E-3D66-C2F22080C411}"/>
              </a:ext>
            </a:extLst>
          </p:cNvPr>
          <p:cNvSpPr/>
          <p:nvPr/>
        </p:nvSpPr>
        <p:spPr>
          <a:xfrm>
            <a:off x="9919745" y="3574993"/>
            <a:ext cx="5065981" cy="33548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804BB79E-89A6-CBF0-1B7E-2F1ABF48B09E}"/>
              </a:ext>
            </a:extLst>
          </p:cNvPr>
          <p:cNvSpPr/>
          <p:nvPr/>
        </p:nvSpPr>
        <p:spPr>
          <a:xfrm>
            <a:off x="9850784" y="1137073"/>
            <a:ext cx="5120470" cy="32912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500" b="1" dirty="0"/>
              <a:t>Limitations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A76035B8-1B04-749F-7139-4897576E0C67}"/>
              </a:ext>
            </a:extLst>
          </p:cNvPr>
          <p:cNvSpPr/>
          <p:nvPr/>
        </p:nvSpPr>
        <p:spPr>
          <a:xfrm>
            <a:off x="102378" y="113027"/>
            <a:ext cx="14914594" cy="90353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612000" rIns="18000" bIns="144000" rtlCol="0" anchor="ctr"/>
          <a:lstStyle/>
          <a:p>
            <a:pPr marL="36000" algn="ctr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3400" b="1" spc="-100" dirty="0">
                <a:latin typeface="Calibri" panose="020F0502020204030204" pitchFamily="34" charset="0"/>
                <a:cs typeface="Calibri" panose="020F0502020204030204" pitchFamily="34" charset="0"/>
              </a:rPr>
              <a:t>Effects of Low-level salience on autonomic nervous system activity and inhibitory control</a:t>
            </a:r>
          </a:p>
          <a:p>
            <a:pPr marL="3600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000" spc="-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Jl21379@essex.ac.uk                                                                    </a:t>
            </a:r>
            <a:r>
              <a:rPr lang="en-GB" sz="2400" spc="-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Joanne Leslie –Department of Psychology                                                   </a:t>
            </a:r>
            <a:r>
              <a:rPr lang="en-GB" sz="2000" spc="-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University of Essex Online</a:t>
            </a:r>
          </a:p>
          <a:p>
            <a:pPr algn="ctr"/>
            <a:endParaRPr lang="en-GB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2FF540E-BAEE-3A01-EED4-0E47FD938416}"/>
              </a:ext>
            </a:extLst>
          </p:cNvPr>
          <p:cNvSpPr/>
          <p:nvPr/>
        </p:nvSpPr>
        <p:spPr>
          <a:xfrm>
            <a:off x="0" y="-17542"/>
            <a:ext cx="15119350" cy="656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B3E447AE-D10F-E746-5808-767077AAA563}"/>
              </a:ext>
            </a:extLst>
          </p:cNvPr>
          <p:cNvSpPr/>
          <p:nvPr/>
        </p:nvSpPr>
        <p:spPr>
          <a:xfrm rot="10800000" flipV="1">
            <a:off x="2130437" y="4821055"/>
            <a:ext cx="2099255" cy="485478"/>
          </a:xfrm>
          <a:prstGeom prst="roundRect">
            <a:avLst/>
          </a:prstGeom>
          <a:solidFill>
            <a:schemeClr val="accent6">
              <a:lumMod val="75000"/>
              <a:alpha val="28213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GB" b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vlPFC</a:t>
            </a:r>
            <a:endParaRPr lang="en-GB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>
              <a:lnSpc>
                <a:spcPts val="1700"/>
              </a:lnSpc>
            </a:pPr>
            <a:r>
              <a:rPr lang="en-GB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Inhibitory </a:t>
            </a: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F572BCBD-4644-61E2-26DA-52887E8FBDCA}"/>
              </a:ext>
            </a:extLst>
          </p:cNvPr>
          <p:cNvSpPr/>
          <p:nvPr/>
        </p:nvSpPr>
        <p:spPr>
          <a:xfrm>
            <a:off x="1860469" y="5335611"/>
            <a:ext cx="1674867" cy="485478"/>
          </a:xfrm>
          <a:prstGeom prst="roundRect">
            <a:avLst/>
          </a:prstGeom>
          <a:solidFill>
            <a:schemeClr val="accent6">
              <a:lumMod val="75000"/>
              <a:alpha val="2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700"/>
              </a:lnSpc>
            </a:pPr>
            <a:r>
              <a:rPr lang="en-GB" sz="2000" b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vmPFC</a:t>
            </a: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algn="ctr">
              <a:lnSpc>
                <a:spcPts val="1700"/>
              </a:lnSpc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Emotion/Value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CAF53E7F-78B0-F8A1-33EE-0DBC4F9E1C11}"/>
              </a:ext>
            </a:extLst>
          </p:cNvPr>
          <p:cNvSpPr/>
          <p:nvPr/>
        </p:nvSpPr>
        <p:spPr>
          <a:xfrm>
            <a:off x="1826869" y="4316805"/>
            <a:ext cx="2290598" cy="473753"/>
          </a:xfrm>
          <a:prstGeom prst="roundRect">
            <a:avLst/>
          </a:prstGeom>
          <a:solidFill>
            <a:schemeClr val="accent6">
              <a:lumMod val="75000"/>
              <a:alpha val="27786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700"/>
              </a:lnSpc>
            </a:pPr>
            <a:r>
              <a:rPr lang="en-GB" sz="2000" b="1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dlPFC</a:t>
            </a:r>
            <a:endParaRPr lang="en-GB" sz="200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>
              <a:lnSpc>
                <a:spcPts val="1700"/>
              </a:lnSpc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Working Memory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804CED77-CBEB-3868-430C-B78E3AA1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8" y="4592698"/>
            <a:ext cx="2319476" cy="1216808"/>
          </a:xfrm>
          <a:prstGeom prst="rect">
            <a:avLst/>
          </a:prstGeom>
          <a:noFill/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CBF25225-A27A-B32C-2B6B-6C86940D69D2}"/>
              </a:ext>
            </a:extLst>
          </p:cNvPr>
          <p:cNvSpPr txBox="1"/>
          <p:nvPr/>
        </p:nvSpPr>
        <p:spPr>
          <a:xfrm>
            <a:off x="5211614" y="3734618"/>
            <a:ext cx="2923641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lnSpc>
                <a:spcPts val="16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Predicted trend (salience):</a:t>
            </a:r>
          </a:p>
        </p:txBody>
      </p:sp>
      <p:graphicFrame>
        <p:nvGraphicFramePr>
          <p:cNvPr id="171" name="Diagram 170">
            <a:extLst>
              <a:ext uri="{FF2B5EF4-FFF2-40B4-BE49-F238E27FC236}">
                <a16:creationId xmlns:a16="http://schemas.microsoft.com/office/drawing/2014/main" id="{6ED28735-A6CA-5717-2CDA-79DDAB9F44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9682121"/>
              </p:ext>
            </p:extLst>
          </p:nvPr>
        </p:nvGraphicFramePr>
        <p:xfrm>
          <a:off x="5249311" y="1670024"/>
          <a:ext cx="4542512" cy="1953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A6CB203E-CDA1-60E1-62C5-F92B92D42A9B}"/>
              </a:ext>
            </a:extLst>
          </p:cNvPr>
          <p:cNvCxnSpPr/>
          <p:nvPr/>
        </p:nvCxnSpPr>
        <p:spPr>
          <a:xfrm>
            <a:off x="7455182" y="1987791"/>
            <a:ext cx="0" cy="141657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022DADC0-A913-18C4-1DF7-85359E5D0B76}"/>
              </a:ext>
            </a:extLst>
          </p:cNvPr>
          <p:cNvCxnSpPr>
            <a:cxnSpLocks/>
          </p:cNvCxnSpPr>
          <p:nvPr/>
        </p:nvCxnSpPr>
        <p:spPr>
          <a:xfrm>
            <a:off x="7455182" y="2082418"/>
            <a:ext cx="2491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328D878-2549-4763-6D4F-49E119B2BF51}"/>
              </a:ext>
            </a:extLst>
          </p:cNvPr>
          <p:cNvCxnSpPr>
            <a:cxnSpLocks/>
          </p:cNvCxnSpPr>
          <p:nvPr/>
        </p:nvCxnSpPr>
        <p:spPr>
          <a:xfrm flipV="1">
            <a:off x="7448677" y="2710591"/>
            <a:ext cx="193921" cy="61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D1212E21-D0C0-AB44-E1A2-10F5FFDC8E01}"/>
              </a:ext>
            </a:extLst>
          </p:cNvPr>
          <p:cNvCxnSpPr>
            <a:cxnSpLocks/>
          </p:cNvCxnSpPr>
          <p:nvPr/>
        </p:nvCxnSpPr>
        <p:spPr>
          <a:xfrm flipH="1">
            <a:off x="7328245" y="3398064"/>
            <a:ext cx="135851" cy="62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A64CD465-1B1F-620E-8656-8A023D3C25D5}"/>
              </a:ext>
            </a:extLst>
          </p:cNvPr>
          <p:cNvCxnSpPr>
            <a:cxnSpLocks/>
          </p:cNvCxnSpPr>
          <p:nvPr/>
        </p:nvCxnSpPr>
        <p:spPr>
          <a:xfrm>
            <a:off x="7281690" y="1999291"/>
            <a:ext cx="17349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B7C92FAC-B4D0-F35B-25BD-ACA771523244}"/>
              </a:ext>
            </a:extLst>
          </p:cNvPr>
          <p:cNvCxnSpPr>
            <a:cxnSpLocks/>
          </p:cNvCxnSpPr>
          <p:nvPr/>
        </p:nvCxnSpPr>
        <p:spPr>
          <a:xfrm flipH="1">
            <a:off x="7455182" y="3284571"/>
            <a:ext cx="1531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1" name="Graphic 230" descr="Man with solid fill">
            <a:extLst>
              <a:ext uri="{FF2B5EF4-FFF2-40B4-BE49-F238E27FC236}">
                <a16:creationId xmlns:a16="http://schemas.microsoft.com/office/drawing/2014/main" id="{68FEEAAB-B53F-0956-C06F-B36EC934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919" y="9499194"/>
            <a:ext cx="229575" cy="229575"/>
          </a:xfrm>
          <a:prstGeom prst="rect">
            <a:avLst/>
          </a:prstGeom>
        </p:spPr>
      </p:pic>
      <p:pic>
        <p:nvPicPr>
          <p:cNvPr id="233" name="Graphic 232" descr="Woman with solid fill">
            <a:extLst>
              <a:ext uri="{FF2B5EF4-FFF2-40B4-BE49-F238E27FC236}">
                <a16:creationId xmlns:a16="http://schemas.microsoft.com/office/drawing/2014/main" id="{395048CC-B54A-528E-8279-94CE4F611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6587" y="9497750"/>
            <a:ext cx="225421" cy="225421"/>
          </a:xfrm>
          <a:prstGeom prst="rect">
            <a:avLst/>
          </a:prstGeom>
        </p:spPr>
      </p:pic>
      <p:pic>
        <p:nvPicPr>
          <p:cNvPr id="234" name="Graphic 233" descr="Man with solid fill">
            <a:extLst>
              <a:ext uri="{FF2B5EF4-FFF2-40B4-BE49-F238E27FC236}">
                <a16:creationId xmlns:a16="http://schemas.microsoft.com/office/drawing/2014/main" id="{8E8FC36F-DDF0-67DD-3305-7B1DC0D31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4035" y="9497548"/>
            <a:ext cx="231220" cy="231220"/>
          </a:xfrm>
          <a:prstGeom prst="rect">
            <a:avLst/>
          </a:prstGeom>
        </p:spPr>
      </p:pic>
      <p:pic>
        <p:nvPicPr>
          <p:cNvPr id="235" name="Graphic 234" descr="Woman with solid fill">
            <a:extLst>
              <a:ext uri="{FF2B5EF4-FFF2-40B4-BE49-F238E27FC236}">
                <a16:creationId xmlns:a16="http://schemas.microsoft.com/office/drawing/2014/main" id="{66B7EAEF-27BE-EA97-70FC-4B8783014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2567" y="9512853"/>
            <a:ext cx="225422" cy="225422"/>
          </a:xfrm>
          <a:prstGeom prst="rect">
            <a:avLst/>
          </a:prstGeom>
        </p:spPr>
      </p:pic>
      <p:pic>
        <p:nvPicPr>
          <p:cNvPr id="236" name="Graphic 235" descr="Man with solid fill">
            <a:extLst>
              <a:ext uri="{FF2B5EF4-FFF2-40B4-BE49-F238E27FC236}">
                <a16:creationId xmlns:a16="http://schemas.microsoft.com/office/drawing/2014/main" id="{08305C9F-9076-6D4B-47C6-EBE366616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47881" y="9512852"/>
            <a:ext cx="216099" cy="216099"/>
          </a:xfrm>
          <a:prstGeom prst="rect">
            <a:avLst/>
          </a:prstGeom>
        </p:spPr>
      </p:pic>
      <p:pic>
        <p:nvPicPr>
          <p:cNvPr id="237" name="Graphic 236" descr="Woman with solid fill">
            <a:extLst>
              <a:ext uri="{FF2B5EF4-FFF2-40B4-BE49-F238E27FC236}">
                <a16:creationId xmlns:a16="http://schemas.microsoft.com/office/drawing/2014/main" id="{44D6ED9D-2E64-F72C-4DFB-EA2E735D7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8214" y="9497548"/>
            <a:ext cx="236439" cy="236439"/>
          </a:xfrm>
          <a:prstGeom prst="rect">
            <a:avLst/>
          </a:prstGeom>
        </p:spPr>
      </p:pic>
      <p:pic>
        <p:nvPicPr>
          <p:cNvPr id="241" name="Graphic 240" descr="Arrow Down with solid fill">
            <a:extLst>
              <a:ext uri="{FF2B5EF4-FFF2-40B4-BE49-F238E27FC236}">
                <a16:creationId xmlns:a16="http://schemas.microsoft.com/office/drawing/2014/main" id="{0B522950-8B48-3F4C-471D-39B192B47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00003" y="9770840"/>
            <a:ext cx="187194" cy="187194"/>
          </a:xfrm>
          <a:prstGeom prst="rect">
            <a:avLst/>
          </a:prstGeom>
        </p:spPr>
      </p:pic>
      <p:pic>
        <p:nvPicPr>
          <p:cNvPr id="242" name="Graphic 241" descr="Arrow Down with solid fill">
            <a:extLst>
              <a:ext uri="{FF2B5EF4-FFF2-40B4-BE49-F238E27FC236}">
                <a16:creationId xmlns:a16="http://schemas.microsoft.com/office/drawing/2014/main" id="{CF5CA400-0AB9-FA49-E070-A6B9C8AA8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26047" y="10260760"/>
            <a:ext cx="187194" cy="187194"/>
          </a:xfrm>
          <a:prstGeom prst="rect">
            <a:avLst/>
          </a:prstGeom>
        </p:spPr>
      </p:pic>
      <p:pic>
        <p:nvPicPr>
          <p:cNvPr id="243" name="Graphic 242" descr="Arrow Down with solid fill">
            <a:extLst>
              <a:ext uri="{FF2B5EF4-FFF2-40B4-BE49-F238E27FC236}">
                <a16:creationId xmlns:a16="http://schemas.microsoft.com/office/drawing/2014/main" id="{BAB0BD1C-98E8-2092-0FF8-5A1725695D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67988" y="10280673"/>
            <a:ext cx="187194" cy="187194"/>
          </a:xfrm>
          <a:prstGeom prst="rect">
            <a:avLst/>
          </a:prstGeom>
        </p:spPr>
      </p:pic>
      <p:pic>
        <p:nvPicPr>
          <p:cNvPr id="245" name="Graphic 244" descr="Arrow Up with solid fill">
            <a:extLst>
              <a:ext uri="{FF2B5EF4-FFF2-40B4-BE49-F238E27FC236}">
                <a16:creationId xmlns:a16="http://schemas.microsoft.com/office/drawing/2014/main" id="{05DA95B8-E501-E7B1-C063-90CB23F55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90476" y="10018543"/>
            <a:ext cx="224177" cy="170511"/>
          </a:xfrm>
          <a:prstGeom prst="rect">
            <a:avLst/>
          </a:prstGeom>
        </p:spPr>
      </p:pic>
      <p:pic>
        <p:nvPicPr>
          <p:cNvPr id="246" name="Graphic 245" descr="Arrow Up with solid fill">
            <a:extLst>
              <a:ext uri="{FF2B5EF4-FFF2-40B4-BE49-F238E27FC236}">
                <a16:creationId xmlns:a16="http://schemas.microsoft.com/office/drawing/2014/main" id="{5683FB90-C6F8-7A52-0ED1-4FA90B277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39919" y="9777189"/>
            <a:ext cx="224177" cy="170511"/>
          </a:xfrm>
          <a:prstGeom prst="rect">
            <a:avLst/>
          </a:prstGeom>
        </p:spPr>
      </p:pic>
      <p:pic>
        <p:nvPicPr>
          <p:cNvPr id="247" name="Graphic 246" descr="Arrow Up with solid fill">
            <a:extLst>
              <a:ext uri="{FF2B5EF4-FFF2-40B4-BE49-F238E27FC236}">
                <a16:creationId xmlns:a16="http://schemas.microsoft.com/office/drawing/2014/main" id="{CDA9F674-F4A3-420F-186D-802CCCF69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38975" y="10028747"/>
            <a:ext cx="224177" cy="170511"/>
          </a:xfrm>
          <a:prstGeom prst="rect">
            <a:avLst/>
          </a:prstGeom>
        </p:spPr>
      </p:pic>
      <p:pic>
        <p:nvPicPr>
          <p:cNvPr id="248" name="Graphic 247" descr="Arrow Down with solid fill">
            <a:extLst>
              <a:ext uri="{FF2B5EF4-FFF2-40B4-BE49-F238E27FC236}">
                <a16:creationId xmlns:a16="http://schemas.microsoft.com/office/drawing/2014/main" id="{BF0ED634-5C34-F8A9-6795-B3AC11613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49001" y="9775816"/>
            <a:ext cx="187194" cy="187194"/>
          </a:xfrm>
          <a:prstGeom prst="rect">
            <a:avLst/>
          </a:prstGeom>
        </p:spPr>
      </p:pic>
      <p:pic>
        <p:nvPicPr>
          <p:cNvPr id="249" name="Graphic 248" descr="Arrow Up with solid fill">
            <a:extLst>
              <a:ext uri="{FF2B5EF4-FFF2-40B4-BE49-F238E27FC236}">
                <a16:creationId xmlns:a16="http://schemas.microsoft.com/office/drawing/2014/main" id="{038B2940-4EEB-89FE-B22B-B1928E5E3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49497" y="10034959"/>
            <a:ext cx="224177" cy="170511"/>
          </a:xfrm>
          <a:prstGeom prst="rect">
            <a:avLst/>
          </a:prstGeom>
        </p:spPr>
      </p:pic>
      <p:pic>
        <p:nvPicPr>
          <p:cNvPr id="253" name="Graphic 252" descr="Arrow Up with solid fill">
            <a:extLst>
              <a:ext uri="{FF2B5EF4-FFF2-40B4-BE49-F238E27FC236}">
                <a16:creationId xmlns:a16="http://schemas.microsoft.com/office/drawing/2014/main" id="{F1EAE69A-5A13-A616-B6BF-3E28CBE4D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74201" y="10028746"/>
            <a:ext cx="224177" cy="170511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969C2B06-95DD-F583-D83F-E6798C0A18A0}"/>
              </a:ext>
            </a:extLst>
          </p:cNvPr>
          <p:cNvSpPr txBox="1"/>
          <p:nvPr/>
        </p:nvSpPr>
        <p:spPr>
          <a:xfrm>
            <a:off x="6362979" y="9770277"/>
            <a:ext cx="965266" cy="794833"/>
          </a:xfrm>
          <a:prstGeom prst="rect">
            <a:avLst/>
          </a:prstGeom>
          <a:solidFill>
            <a:schemeClr val="bg1">
              <a:alpha val="17525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GB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EDA</a:t>
            </a:r>
          </a:p>
          <a:p>
            <a:pPr algn="just">
              <a:lnSpc>
                <a:spcPts val="1800"/>
              </a:lnSpc>
            </a:pPr>
            <a:r>
              <a:rPr lang="en-GB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EEG</a:t>
            </a:r>
          </a:p>
          <a:p>
            <a:pPr algn="just">
              <a:lnSpc>
                <a:spcPts val="1800"/>
              </a:lnSpc>
            </a:pPr>
            <a:r>
              <a:rPr lang="en-GB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Flanker</a:t>
            </a:r>
          </a:p>
        </p:txBody>
      </p:sp>
      <p:pic>
        <p:nvPicPr>
          <p:cNvPr id="256" name="Graphic 255" descr="Arrow Down with solid fill">
            <a:extLst>
              <a:ext uri="{FF2B5EF4-FFF2-40B4-BE49-F238E27FC236}">
                <a16:creationId xmlns:a16="http://schemas.microsoft.com/office/drawing/2014/main" id="{5A471831-7985-3768-FEDB-FE22602DD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9902" y="10260760"/>
            <a:ext cx="187194" cy="187194"/>
          </a:xfrm>
          <a:prstGeom prst="rect">
            <a:avLst/>
          </a:prstGeom>
        </p:spPr>
      </p:pic>
      <p:pic>
        <p:nvPicPr>
          <p:cNvPr id="259" name="Graphic 258" descr="Arrow Up with solid fill">
            <a:extLst>
              <a:ext uri="{FF2B5EF4-FFF2-40B4-BE49-F238E27FC236}">
                <a16:creationId xmlns:a16="http://schemas.microsoft.com/office/drawing/2014/main" id="{8B45C456-61B1-3BB2-D843-479271C00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27615" y="9801852"/>
            <a:ext cx="224177" cy="170511"/>
          </a:xfrm>
          <a:prstGeom prst="rect">
            <a:avLst/>
          </a:prstGeom>
        </p:spPr>
      </p:pic>
      <p:pic>
        <p:nvPicPr>
          <p:cNvPr id="260" name="Graphic 259" descr="Arrow Up with solid fill">
            <a:extLst>
              <a:ext uri="{FF2B5EF4-FFF2-40B4-BE49-F238E27FC236}">
                <a16:creationId xmlns:a16="http://schemas.microsoft.com/office/drawing/2014/main" id="{748EC7AD-7FF8-5634-FA16-524B8D22C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7677" y="10287725"/>
            <a:ext cx="224177" cy="170511"/>
          </a:xfrm>
          <a:prstGeom prst="rect">
            <a:avLst/>
          </a:prstGeom>
        </p:spPr>
      </p:pic>
      <p:sp>
        <p:nvSpPr>
          <p:cNvPr id="289" name="TextBox 288">
            <a:extLst>
              <a:ext uri="{FF2B5EF4-FFF2-40B4-BE49-F238E27FC236}">
                <a16:creationId xmlns:a16="http://schemas.microsoft.com/office/drawing/2014/main" id="{2945B9BE-12E3-4CF7-8633-4CB9779748BF}"/>
              </a:ext>
            </a:extLst>
          </p:cNvPr>
          <p:cNvSpPr txBox="1"/>
          <p:nvPr/>
        </p:nvSpPr>
        <p:spPr>
          <a:xfrm>
            <a:off x="5235127" y="9392747"/>
            <a:ext cx="1521083" cy="471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0400" indent="-140400">
              <a:lnSpc>
                <a:spcPts val="1800"/>
              </a:lnSpc>
              <a:buSzPct val="80000"/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Individual Variability: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BDDA91EB-F66C-4B98-C515-FB863A5FDFD3}"/>
              </a:ext>
            </a:extLst>
          </p:cNvPr>
          <p:cNvCxnSpPr>
            <a:cxnSpLocks/>
          </p:cNvCxnSpPr>
          <p:nvPr/>
        </p:nvCxnSpPr>
        <p:spPr>
          <a:xfrm>
            <a:off x="8654211" y="10387447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973A332C-78F8-AE60-1006-431E503F77BC}"/>
              </a:ext>
            </a:extLst>
          </p:cNvPr>
          <p:cNvCxnSpPr>
            <a:cxnSpLocks/>
          </p:cNvCxnSpPr>
          <p:nvPr/>
        </p:nvCxnSpPr>
        <p:spPr>
          <a:xfrm>
            <a:off x="8666080" y="10123467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C6EAE800-FFCA-C7D6-A87A-2BA89143B517}"/>
              </a:ext>
            </a:extLst>
          </p:cNvPr>
          <p:cNvCxnSpPr>
            <a:cxnSpLocks/>
          </p:cNvCxnSpPr>
          <p:nvPr/>
        </p:nvCxnSpPr>
        <p:spPr>
          <a:xfrm>
            <a:off x="7945398" y="10094928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66A30DA5-6C7F-1E3F-77B8-8B011011FF5E}"/>
              </a:ext>
            </a:extLst>
          </p:cNvPr>
          <p:cNvCxnSpPr>
            <a:cxnSpLocks/>
          </p:cNvCxnSpPr>
          <p:nvPr/>
        </p:nvCxnSpPr>
        <p:spPr>
          <a:xfrm>
            <a:off x="7945398" y="9869413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9885CD49-9033-A935-F1A6-85CDBF08583A}"/>
              </a:ext>
            </a:extLst>
          </p:cNvPr>
          <p:cNvCxnSpPr>
            <a:cxnSpLocks/>
          </p:cNvCxnSpPr>
          <p:nvPr/>
        </p:nvCxnSpPr>
        <p:spPr>
          <a:xfrm>
            <a:off x="8312042" y="9871775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CF00885-FC2A-1E94-D8A4-A813B9BB87C5}"/>
              </a:ext>
            </a:extLst>
          </p:cNvPr>
          <p:cNvCxnSpPr>
            <a:cxnSpLocks/>
          </p:cNvCxnSpPr>
          <p:nvPr/>
        </p:nvCxnSpPr>
        <p:spPr>
          <a:xfrm>
            <a:off x="7576816" y="10392250"/>
            <a:ext cx="14849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ound Same Side Corner Rectangle 317">
            <a:extLst>
              <a:ext uri="{FF2B5EF4-FFF2-40B4-BE49-F238E27FC236}">
                <a16:creationId xmlns:a16="http://schemas.microsoft.com/office/drawing/2014/main" id="{624FE69D-170D-AA38-2696-AC9A33565D4E}"/>
              </a:ext>
            </a:extLst>
          </p:cNvPr>
          <p:cNvSpPr/>
          <p:nvPr/>
        </p:nvSpPr>
        <p:spPr>
          <a:xfrm>
            <a:off x="190899" y="9497548"/>
            <a:ext cx="4878993" cy="1043278"/>
          </a:xfrm>
          <a:prstGeom prst="round2SameRect">
            <a:avLst/>
          </a:prstGeom>
          <a:solidFill>
            <a:schemeClr val="accent6">
              <a:lumMod val="75000"/>
              <a:alpha val="1393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140400" indent="-140400" algn="ctr">
              <a:lnSpc>
                <a:spcPts val="2000"/>
              </a:lnSpc>
              <a:buSzPct val="80000"/>
            </a:pPr>
            <a:endParaRPr lang="en-GB" sz="200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>
              <a:lnSpc>
                <a:spcPts val="1800"/>
              </a:lnSpc>
              <a:buSzPct val="80000"/>
            </a:pPr>
            <a:r>
              <a:rPr lang="en-GB" sz="2000" b="1" spc="-5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Research Question: To what extent does low-level salience activate the autonomic nervous system, and do these changes influence inhibitory control performance across individuals?</a:t>
            </a:r>
          </a:p>
          <a:p>
            <a:pPr algn="ctr"/>
            <a:endParaRPr lang="en-GB" dirty="0"/>
          </a:p>
        </p:txBody>
      </p:sp>
      <p:pic>
        <p:nvPicPr>
          <p:cNvPr id="324" name="Picture 323">
            <a:extLst>
              <a:ext uri="{FF2B5EF4-FFF2-40B4-BE49-F238E27FC236}">
                <a16:creationId xmlns:a16="http://schemas.microsoft.com/office/drawing/2014/main" id="{CF295676-BCD7-59FE-E54E-6F414C164CC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20475" y="6753193"/>
            <a:ext cx="3533265" cy="234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2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7094</TotalTime>
  <Words>576</Words>
  <Application>Microsoft Macintosh PowerPoint</Application>
  <PresentationFormat>Custom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Light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 Leslie</dc:creator>
  <cp:lastModifiedBy>Joanne Leslie</cp:lastModifiedBy>
  <cp:revision>32</cp:revision>
  <cp:lastPrinted>2026-04-02T18:05:18Z</cp:lastPrinted>
  <dcterms:created xsi:type="dcterms:W3CDTF">2026-04-01T20:00:36Z</dcterms:created>
  <dcterms:modified xsi:type="dcterms:W3CDTF">2026-04-06T18:24:31Z</dcterms:modified>
</cp:coreProperties>
</file>