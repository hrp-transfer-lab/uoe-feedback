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1"/>
  </p:sldMasterIdLst>
  <p:notesMasterIdLst>
    <p:notesMasterId r:id="rId3"/>
  </p:notesMasterIdLst>
  <p:sldIdLst>
    <p:sldId id="257" r:id="rId2"/>
  </p:sldIdLst>
  <p:sldSz cx="12801600" cy="9601200" type="A3"/>
  <p:notesSz cx="10688638" cy="151241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D2"/>
    <a:srgbClr val="8F8FC0"/>
    <a:srgbClr val="4B1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42" d="100"/>
          <a:sy n="42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1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1pPr>
    <a:lvl2pPr marL="396758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2pPr>
    <a:lvl3pPr marL="793516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3pPr>
    <a:lvl4pPr marL="1190274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4pPr>
    <a:lvl5pPr marL="1587033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5pPr>
    <a:lvl6pPr marL="1983791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6pPr>
    <a:lvl7pPr marL="2380549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7pPr>
    <a:lvl8pPr marL="2777307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8pPr>
    <a:lvl9pPr marL="3174065" algn="l" defTabSz="793516" rtl="0" eaLnBrk="1" latinLnBrk="0" hangingPunct="1">
      <a:defRPr sz="104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B87E-D4D3-B763-8AD6-C0F4ED23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0E809-2B62-D342-C1EE-F5F28952B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402CF-B7C8-535C-37F1-D67E93766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8BB5E-FC49-11EA-8A23-BFEBACC9D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5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808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7448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316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800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81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41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739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271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493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600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0033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89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7/0033-2909.132.6.959" TargetMode="External"/><Relationship Id="rId3" Type="http://schemas.openxmlformats.org/officeDocument/2006/relationships/hyperlink" Target="https://doi.org/10.30773/pi.2019.0112" TargetMode="External"/><Relationship Id="rId7" Type="http://schemas.openxmlformats.org/officeDocument/2006/relationships/hyperlink" Target="https://doi.org/10.1002/wps.2087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6/j.jpsychires.2020.07.014" TargetMode="External"/><Relationship Id="rId5" Type="http://schemas.openxmlformats.org/officeDocument/2006/relationships/hyperlink" Target="https://doi.org/10.1037/14775-009" TargetMode="External"/><Relationship Id="rId4" Type="http://schemas.openxmlformats.org/officeDocument/2006/relationships/hyperlink" Target="https://doi.org/10.1176/appi.focus.202300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76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88D8E-DD17-ED15-0AF6-8D94FE5A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01D1A0-0B07-02C5-7CD7-7E37CCA8593E}"/>
              </a:ext>
            </a:extLst>
          </p:cNvPr>
          <p:cNvSpPr/>
          <p:nvPr/>
        </p:nvSpPr>
        <p:spPr>
          <a:xfrm>
            <a:off x="-15479" y="-40358"/>
            <a:ext cx="8529276" cy="1331248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0397F9-4A4F-E6B9-ED00-DC6A033405B5}"/>
              </a:ext>
            </a:extLst>
          </p:cNvPr>
          <p:cNvSpPr/>
          <p:nvPr/>
        </p:nvSpPr>
        <p:spPr>
          <a:xfrm>
            <a:off x="8854348" y="-40358"/>
            <a:ext cx="3947306" cy="1331248"/>
          </a:xfrm>
          <a:prstGeom prst="rect">
            <a:avLst/>
          </a:prstGeom>
          <a:solidFill>
            <a:srgbClr val="C00000"/>
          </a:solidFill>
          <a:ln w="12700">
            <a:solidFill>
              <a:srgbClr val="9E1A2E"/>
            </a:solidFill>
            <a:prstDash val="solid"/>
          </a:ln>
        </p:spPr>
        <p:txBody>
          <a:bodyPr/>
          <a:lstStyle/>
          <a:p>
            <a:endParaRPr lang="LID4096" sz="132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DA8D0B-66D3-BE7C-6219-348C85C17AAF}"/>
              </a:ext>
            </a:extLst>
          </p:cNvPr>
          <p:cNvSpPr/>
          <p:nvPr/>
        </p:nvSpPr>
        <p:spPr>
          <a:xfrm>
            <a:off x="191189" y="85374"/>
            <a:ext cx="8513796" cy="170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46" b="1" kern="0" spc="127" dirty="0">
                <a:solidFill>
                  <a:srgbClr val="CCBBD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UNIVERSITY OF ESSEX ONLINE  ·  DEPARTMENT OF PSYCHOLOGY</a:t>
            </a:r>
            <a:endParaRPr lang="en-US" sz="84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42C693-EF15-11DA-F63D-426E3563FBE6}"/>
              </a:ext>
            </a:extLst>
          </p:cNvPr>
          <p:cNvSpPr/>
          <p:nvPr/>
        </p:nvSpPr>
        <p:spPr>
          <a:xfrm>
            <a:off x="185701" y="250531"/>
            <a:ext cx="10061759" cy="7739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Psychobiological Effects of Focusing-Oriented Therapy on Heart Rate Variability and Cortisol in Women with PTSD and Complex PTSD: A Pilot Study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E0A95C-0819-60BC-300B-29EEEF36BAF2}"/>
              </a:ext>
            </a:extLst>
          </p:cNvPr>
          <p:cNvSpPr/>
          <p:nvPr/>
        </p:nvSpPr>
        <p:spPr>
          <a:xfrm>
            <a:off x="154796" y="934857"/>
            <a:ext cx="12383704" cy="232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DDD0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Chana Rena Reiser (34681)   |   cr25790@essex.ac.uk   |   University of Essex Online   |   Supervisor: Dr. D. Goldenhaus-Manning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118C63-1CA5-CDDA-7B6F-1B171292A2EC}"/>
              </a:ext>
            </a:extLst>
          </p:cNvPr>
          <p:cNvSpPr/>
          <p:nvPr/>
        </p:nvSpPr>
        <p:spPr>
          <a:xfrm>
            <a:off x="9117502" y="958723"/>
            <a:ext cx="3080447" cy="193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16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Module: Psychobiology and Neuroscience</a:t>
            </a:r>
            <a:endParaRPr lang="en-US" sz="101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91C4864-5A0F-A297-0F4D-E34D45A6536E}"/>
              </a:ext>
            </a:extLst>
          </p:cNvPr>
          <p:cNvSpPr/>
          <p:nvPr/>
        </p:nvSpPr>
        <p:spPr>
          <a:xfrm>
            <a:off x="35730" y="1341198"/>
            <a:ext cx="4816920" cy="595139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 sz="132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CB32B6C-46E0-9E0C-6F6E-3E04BF287F34}"/>
              </a:ext>
            </a:extLst>
          </p:cNvPr>
          <p:cNvSpPr/>
          <p:nvPr/>
        </p:nvSpPr>
        <p:spPr>
          <a:xfrm>
            <a:off x="5017445" y="1653077"/>
            <a:ext cx="3714167" cy="664703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 sz="132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12F4ACA-BF99-F067-7109-5FC60B6682E2}"/>
              </a:ext>
            </a:extLst>
          </p:cNvPr>
          <p:cNvSpPr/>
          <p:nvPr/>
        </p:nvSpPr>
        <p:spPr>
          <a:xfrm>
            <a:off x="8871588" y="1366708"/>
            <a:ext cx="3870743" cy="60773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F41EB9-94CF-9860-A172-87FF4D6DDB8F}"/>
              </a:ext>
            </a:extLst>
          </p:cNvPr>
          <p:cNvSpPr/>
          <p:nvPr/>
        </p:nvSpPr>
        <p:spPr>
          <a:xfrm>
            <a:off x="-25661" y="1316613"/>
            <a:ext cx="4740605" cy="330680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D3E662-8F09-CDCA-ABE9-4ECA5E04A283}"/>
              </a:ext>
            </a:extLst>
          </p:cNvPr>
          <p:cNvSpPr/>
          <p:nvPr/>
        </p:nvSpPr>
        <p:spPr>
          <a:xfrm>
            <a:off x="128606" y="1347717"/>
            <a:ext cx="3947306" cy="30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21BED2E-8A35-9E70-2B64-6B2FCD0337C2}"/>
              </a:ext>
            </a:extLst>
          </p:cNvPr>
          <p:cNvSpPr/>
          <p:nvPr/>
        </p:nvSpPr>
        <p:spPr>
          <a:xfrm>
            <a:off x="35730" y="1628941"/>
            <a:ext cx="4835528" cy="1531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This pilot tests the psychobiological effects of Focusing-Oriented Therapy (FOT) on 30 women with PTSD/C-PTSD, measuring HRV and cortisol pre- and post-intervention.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7E06AB0-5F6E-75A3-7200-7AA2C738387C}"/>
              </a:ext>
            </a:extLst>
          </p:cNvPr>
          <p:cNvSpPr/>
          <p:nvPr/>
        </p:nvSpPr>
        <p:spPr>
          <a:xfrm>
            <a:off x="16932" y="3190020"/>
            <a:ext cx="4854326" cy="339578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E118DF-8CF7-E1B5-1BA4-F2928A5948B4}"/>
              </a:ext>
            </a:extLst>
          </p:cNvPr>
          <p:cNvSpPr/>
          <p:nvPr/>
        </p:nvSpPr>
        <p:spPr>
          <a:xfrm>
            <a:off x="109809" y="3194189"/>
            <a:ext cx="3947306" cy="30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Introduction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F4E282-BEAC-FD27-218F-5BED26E00DF6}"/>
              </a:ext>
            </a:extLst>
          </p:cNvPr>
          <p:cNvSpPr/>
          <p:nvPr/>
        </p:nvSpPr>
        <p:spPr>
          <a:xfrm>
            <a:off x="10949" y="3506259"/>
            <a:ext cx="4830668" cy="37701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trained Focusing practitioner, this research emerges from direct clinical observation.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Sex differences: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Women ~2× more likely to develop PTSD (Tolin &amp; Foa, 2006)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Psychobiology: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PTSD linked to ↓ HRV and blunted cortisol (Ge et al., 2020; Metz et al., 2020)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FOT: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89 studies of efficacy but no psychobiological evidence 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Krycka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Ikemi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2016)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69EF051-038A-ED19-81CF-BA8541FAB681}"/>
              </a:ext>
            </a:extLst>
          </p:cNvPr>
          <p:cNvSpPr/>
          <p:nvPr/>
        </p:nvSpPr>
        <p:spPr>
          <a:xfrm>
            <a:off x="34139" y="7255735"/>
            <a:ext cx="4827572" cy="1005424"/>
          </a:xfrm>
          <a:prstGeom prst="rect">
            <a:avLst/>
          </a:prstGeom>
          <a:solidFill>
            <a:srgbClr val="AEAED2"/>
          </a:solidFill>
          <a:ln/>
        </p:spPr>
        <p:txBody>
          <a:bodyPr wrap="square" rtlCol="0" anchor="ctr"/>
          <a:lstStyle/>
          <a:p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Question: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an 8-week FOT intervention change HRV and cortisol in women with PTSD/C-PTSD?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8BE909F-0856-5953-659A-A221DA22B6F9}"/>
              </a:ext>
            </a:extLst>
          </p:cNvPr>
          <p:cNvSpPr/>
          <p:nvPr/>
        </p:nvSpPr>
        <p:spPr>
          <a:xfrm>
            <a:off x="5041953" y="1802050"/>
            <a:ext cx="3689659" cy="1362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90231" indent="-290231">
              <a:spcAft>
                <a:spcPts val="169"/>
              </a:spcAft>
              <a:buSzPct val="10000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N=30 women; 8-week FOT; pre-post design</a:t>
            </a:r>
          </a:p>
          <a:p>
            <a:pPr marL="290231" indent="-290231">
              <a:spcAft>
                <a:spcPts val="169"/>
              </a:spcAft>
              <a:buSzPct val="10000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Measures: HRV (ECG) + cortisol (ELISA; 5 time-points × 2 days)</a:t>
            </a:r>
          </a:p>
          <a:p>
            <a:pPr marL="290231" indent="-290231">
              <a:spcAft>
                <a:spcPts val="169"/>
              </a:spcAft>
              <a:buSzPct val="10000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Analysis: paired t-tests; Cohen's 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2883983-0476-5223-07E6-304DB5CDF612}"/>
              </a:ext>
            </a:extLst>
          </p:cNvPr>
          <p:cNvSpPr/>
          <p:nvPr/>
        </p:nvSpPr>
        <p:spPr>
          <a:xfrm>
            <a:off x="4726163" y="1333393"/>
            <a:ext cx="4040183" cy="309593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B641901-CE61-822E-98A4-E4A002E49405}"/>
              </a:ext>
            </a:extLst>
          </p:cNvPr>
          <p:cNvSpPr/>
          <p:nvPr/>
        </p:nvSpPr>
        <p:spPr>
          <a:xfrm>
            <a:off x="5032640" y="1344050"/>
            <a:ext cx="3785924" cy="23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Design &amp; Method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39FB2B2-C7A5-1BB3-C8BC-BDD6A8FD0CA1}"/>
              </a:ext>
            </a:extLst>
          </p:cNvPr>
          <p:cNvSpPr/>
          <p:nvPr/>
        </p:nvSpPr>
        <p:spPr>
          <a:xfrm>
            <a:off x="5032640" y="6705928"/>
            <a:ext cx="3672345" cy="1568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69"/>
              </a:spcAft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Ethics: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UoE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Ethics approved · Informed consent · right to withdraw 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FOT minimizes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retraumatization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· data anonymized · UK GDPR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14BFC1C-86F8-DDCF-714E-E623F9F5BDAE}"/>
              </a:ext>
            </a:extLst>
          </p:cNvPr>
          <p:cNvSpPr/>
          <p:nvPr/>
        </p:nvSpPr>
        <p:spPr>
          <a:xfrm>
            <a:off x="8738705" y="1354977"/>
            <a:ext cx="4062949" cy="309592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698A00C-3042-6612-9826-144E48D8D08A}"/>
              </a:ext>
            </a:extLst>
          </p:cNvPr>
          <p:cNvSpPr/>
          <p:nvPr/>
        </p:nvSpPr>
        <p:spPr>
          <a:xfrm>
            <a:off x="8818564" y="1341592"/>
            <a:ext cx="3947306" cy="30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Conclusions / Discussion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8D52FF0-8C36-4763-E5A7-68F1246E1404}"/>
              </a:ext>
            </a:extLst>
          </p:cNvPr>
          <p:cNvSpPr/>
          <p:nvPr/>
        </p:nvSpPr>
        <p:spPr>
          <a:xfrm>
            <a:off x="8873780" y="1773673"/>
            <a:ext cx="3837389" cy="3394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↑ HRV would support Polyvagal Theory (Porges, 2021)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Normalized cortisol would support Interoceptive Fear Learning Theory (Joshi et al., 2023)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If confirmed, this would represent the first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psychobiological evidence for FOT in female PTSD · Future RCT warranted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54ED668-D536-8259-F2F1-2DCED73DE049}"/>
              </a:ext>
            </a:extLst>
          </p:cNvPr>
          <p:cNvSpPr/>
          <p:nvPr/>
        </p:nvSpPr>
        <p:spPr>
          <a:xfrm>
            <a:off x="8871588" y="6085890"/>
            <a:ext cx="3870743" cy="2390347"/>
          </a:xfrm>
          <a:prstGeom prst="rect">
            <a:avLst/>
          </a:prstGeom>
          <a:solidFill>
            <a:srgbClr val="C00000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F79F1A0-5E26-4170-7894-B806340D3330}"/>
              </a:ext>
            </a:extLst>
          </p:cNvPr>
          <p:cNvSpPr/>
          <p:nvPr/>
        </p:nvSpPr>
        <p:spPr>
          <a:xfrm>
            <a:off x="8914557" y="6085890"/>
            <a:ext cx="3672040" cy="2181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Take-Home Message: 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Focusing-Oriented Therapy may offer a psychobiologically active interoceptive approach for women with PTSD that is theoretically grounded and ethically rigorous.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E40DF50-91AD-B4A3-9FE5-127B56CE33C5}"/>
              </a:ext>
            </a:extLst>
          </p:cNvPr>
          <p:cNvSpPr/>
          <p:nvPr/>
        </p:nvSpPr>
        <p:spPr>
          <a:xfrm>
            <a:off x="8622154" y="5934778"/>
            <a:ext cx="3838948" cy="959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69"/>
              </a:spcAft>
              <a:buSzPct val="100000"/>
            </a:pPr>
            <a:endParaRPr lang="en-US" sz="169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032FD17-C6B7-DCEB-8AD1-D17FB6A99ABF}"/>
              </a:ext>
            </a:extLst>
          </p:cNvPr>
          <p:cNvSpPr/>
          <p:nvPr/>
        </p:nvSpPr>
        <p:spPr>
          <a:xfrm>
            <a:off x="35727" y="8315421"/>
            <a:ext cx="12706605" cy="117760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D4B8FE5-5357-50C5-4442-4E8DEB296124}"/>
              </a:ext>
            </a:extLst>
          </p:cNvPr>
          <p:cNvSpPr/>
          <p:nvPr/>
        </p:nvSpPr>
        <p:spPr>
          <a:xfrm>
            <a:off x="-15479" y="8267806"/>
            <a:ext cx="12817079" cy="307569"/>
          </a:xfrm>
          <a:prstGeom prst="rect">
            <a:avLst/>
          </a:prstGeom>
          <a:solidFill>
            <a:srgbClr val="4B1768"/>
          </a:solidFill>
          <a:ln w="12700">
            <a:noFill/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B77916E-6BBD-9184-CEDE-29A3E4DB2415}"/>
              </a:ext>
            </a:extLst>
          </p:cNvPr>
          <p:cNvSpPr/>
          <p:nvPr/>
        </p:nvSpPr>
        <p:spPr>
          <a:xfrm>
            <a:off x="59268" y="8286559"/>
            <a:ext cx="9287778" cy="270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References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1BBD2ED-91F3-B6B4-B9E0-7E814B3F84B5}"/>
              </a:ext>
            </a:extLst>
          </p:cNvPr>
          <p:cNvSpPr/>
          <p:nvPr/>
        </p:nvSpPr>
        <p:spPr>
          <a:xfrm>
            <a:off x="-3052" y="8538553"/>
            <a:ext cx="6403852" cy="965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/>
              <a:t>Ge, F., Yuan, M., Li, Y., &amp; Zhang, W. (2020). Posttraumatic stress disorder and alterations in resting heart rate variability. </a:t>
            </a:r>
            <a:r>
              <a:rPr lang="en-US" sz="900" i="1" dirty="0"/>
              <a:t>Psychiatry Investigation</a:t>
            </a:r>
            <a:r>
              <a:rPr lang="en-US" sz="900" dirty="0"/>
              <a:t>, </a:t>
            </a:r>
            <a:r>
              <a:rPr lang="en-US" sz="900" i="1" dirty="0"/>
              <a:t>17</a:t>
            </a:r>
            <a:r>
              <a:rPr lang="en-US" sz="900" dirty="0"/>
              <a:t>(1), 9–20. </a:t>
            </a:r>
            <a:r>
              <a:rPr lang="en-US" sz="900" dirty="0">
                <a:hlinkClick r:id="rId3"/>
              </a:rPr>
              <a:t>https://doi.org/10.30773/pi.2019.0112</a:t>
            </a:r>
            <a:endParaRPr lang="en-US" sz="900" dirty="0"/>
          </a:p>
          <a:p>
            <a:r>
              <a:rPr lang="en-US" sz="900" dirty="0"/>
              <a:t>Joshi, S. A., Aupperle, R. L., &amp; Khalsa, S. S. (2023). Interoception in fear learning and posttraumatic stress disorder. </a:t>
            </a:r>
            <a:r>
              <a:rPr lang="en-US" sz="900" i="1" dirty="0"/>
              <a:t>Focus</a:t>
            </a:r>
            <a:r>
              <a:rPr lang="en-US" sz="900" dirty="0"/>
              <a:t>, </a:t>
            </a:r>
            <a:r>
              <a:rPr lang="en-US" sz="900" i="1" dirty="0"/>
              <a:t>21</a:t>
            </a:r>
            <a:r>
              <a:rPr lang="en-US" sz="900" dirty="0"/>
              <a:t>(3), 266–277. </a:t>
            </a:r>
            <a:r>
              <a:rPr lang="en-US" sz="900" dirty="0">
                <a:hlinkClick r:id="rId4"/>
              </a:rPr>
              <a:t>https://doi.org/10.1176/appi.focus.20230007</a:t>
            </a:r>
            <a:endParaRPr lang="en-US" sz="900" dirty="0"/>
          </a:p>
          <a:p>
            <a:r>
              <a:rPr lang="en-US" sz="900" dirty="0" err="1"/>
              <a:t>Krycka</a:t>
            </a:r>
            <a:r>
              <a:rPr lang="en-US" sz="900" dirty="0"/>
              <a:t>, K. C., &amp; </a:t>
            </a:r>
            <a:r>
              <a:rPr lang="en-US" sz="900" dirty="0" err="1"/>
              <a:t>Ikemi</a:t>
            </a:r>
            <a:r>
              <a:rPr lang="en-US" sz="900" dirty="0"/>
              <a:t>, A. (2016). Focusing-oriented–experiential psychotherapy. In D. J. Cain, K. Keenan, &amp; S. Rubin (Eds.), </a:t>
            </a:r>
            <a:r>
              <a:rPr lang="en-US" sz="900" i="1" dirty="0"/>
              <a:t>Humanistic psychotherapies</a:t>
            </a:r>
            <a:r>
              <a:rPr lang="en-US" sz="900" dirty="0"/>
              <a:t> (2nd ed., pp. 251–282). American Psychological Association. </a:t>
            </a:r>
            <a:r>
              <a:rPr lang="en-US" sz="900" dirty="0">
                <a:hlinkClick r:id="rId5"/>
              </a:rPr>
              <a:t>https://doi.org/10.1037/14775-009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43644E4-F0B2-1691-4F53-63790BC1AB63}"/>
              </a:ext>
            </a:extLst>
          </p:cNvPr>
          <p:cNvSpPr/>
          <p:nvPr/>
        </p:nvSpPr>
        <p:spPr>
          <a:xfrm>
            <a:off x="0" y="9515826"/>
            <a:ext cx="12801654" cy="100618"/>
          </a:xfrm>
          <a:prstGeom prst="rect">
            <a:avLst/>
          </a:prstGeom>
          <a:solidFill>
            <a:srgbClr val="9E1A2E"/>
          </a:solidFill>
          <a:ln w="12700">
            <a:solidFill>
              <a:srgbClr val="9E1A2E"/>
            </a:solidFill>
            <a:prstDash val="solid"/>
          </a:ln>
        </p:spPr>
        <p:txBody>
          <a:bodyPr/>
          <a:lstStyle/>
          <a:p>
            <a:endParaRPr lang="LID4096" sz="132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80C2C985-8B01-8E49-AC2D-47881BF99D50}"/>
              </a:ext>
            </a:extLst>
          </p:cNvPr>
          <p:cNvSpPr/>
          <p:nvPr/>
        </p:nvSpPr>
        <p:spPr>
          <a:xfrm>
            <a:off x="5285243" y="4004205"/>
            <a:ext cx="1280160" cy="1005840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C7FD4908-1A8A-B86E-8D9B-DC6697F88578}"/>
              </a:ext>
            </a:extLst>
          </p:cNvPr>
          <p:cNvSpPr/>
          <p:nvPr/>
        </p:nvSpPr>
        <p:spPr>
          <a:xfrm>
            <a:off x="5318307" y="4148921"/>
            <a:ext cx="1247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82952AFA-B574-A584-CFA7-9FF6F804C523}"/>
              </a:ext>
            </a:extLst>
          </p:cNvPr>
          <p:cNvSpPr/>
          <p:nvPr/>
        </p:nvSpPr>
        <p:spPr>
          <a:xfrm>
            <a:off x="5318307" y="4594204"/>
            <a:ext cx="12039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· Cortisol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ITQ · PSS-10</a:t>
            </a:r>
            <a:endParaRPr lang="en-US" sz="1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60F09492-730D-F7EC-46A4-5E933DB8D305}"/>
              </a:ext>
            </a:extLst>
          </p:cNvPr>
          <p:cNvSpPr/>
          <p:nvPr/>
        </p:nvSpPr>
        <p:spPr>
          <a:xfrm>
            <a:off x="7215582" y="3996097"/>
            <a:ext cx="1280160" cy="1005840"/>
          </a:xfrm>
          <a:prstGeom prst="rect">
            <a:avLst/>
          </a:prstGeom>
          <a:solidFill>
            <a:srgbClr val="9E1A2E"/>
          </a:solidFill>
          <a:ln w="12700">
            <a:solidFill>
              <a:srgbClr val="9E1A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D7A1DAC1-B0C1-54C7-3974-6BE57225D252}"/>
              </a:ext>
            </a:extLst>
          </p:cNvPr>
          <p:cNvSpPr/>
          <p:nvPr/>
        </p:nvSpPr>
        <p:spPr>
          <a:xfrm>
            <a:off x="7232453" y="4145886"/>
            <a:ext cx="12632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</a:t>
            </a:r>
            <a:endParaRPr lang="en-US" sz="16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96FE557B-AB8B-D6F4-83B5-04A9734CB66B}"/>
              </a:ext>
            </a:extLst>
          </p:cNvPr>
          <p:cNvSpPr/>
          <p:nvPr/>
        </p:nvSpPr>
        <p:spPr>
          <a:xfrm>
            <a:off x="7232454" y="4584171"/>
            <a:ext cx="1263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50-min individual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6893EBC6-07AD-E5AF-020D-2E10D9D7D3C5}"/>
              </a:ext>
            </a:extLst>
          </p:cNvPr>
          <p:cNvSpPr/>
          <p:nvPr/>
        </p:nvSpPr>
        <p:spPr>
          <a:xfrm>
            <a:off x="6234578" y="5447096"/>
            <a:ext cx="1280160" cy="1005840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1A65CE26-7CE9-B225-52D3-7E7E0C73EF87}"/>
              </a:ext>
            </a:extLst>
          </p:cNvPr>
          <p:cNvSpPr/>
          <p:nvPr/>
        </p:nvSpPr>
        <p:spPr>
          <a:xfrm>
            <a:off x="6234578" y="5504707"/>
            <a:ext cx="1280160" cy="581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</a:t>
            </a:r>
            <a:endParaRPr lang="en-US" sz="16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155F3C05-A68A-16BB-48C6-B9F02A77CB42}"/>
              </a:ext>
            </a:extLst>
          </p:cNvPr>
          <p:cNvSpPr/>
          <p:nvPr/>
        </p:nvSpPr>
        <p:spPr>
          <a:xfrm>
            <a:off x="6227484" y="6058725"/>
            <a:ext cx="12840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· Cortisol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ITQ · PSS-10</a:t>
            </a:r>
            <a:endParaRPr lang="en-US" sz="11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81EE5AD9-EEC7-A75D-30D9-7EE142922B97}"/>
              </a:ext>
            </a:extLst>
          </p:cNvPr>
          <p:cNvSpPr/>
          <p:nvPr/>
        </p:nvSpPr>
        <p:spPr>
          <a:xfrm>
            <a:off x="5318308" y="352959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46355343-11E1-91FC-C463-A263F81D9063}"/>
              </a:ext>
            </a:extLst>
          </p:cNvPr>
          <p:cNvSpPr/>
          <p:nvPr/>
        </p:nvSpPr>
        <p:spPr>
          <a:xfrm>
            <a:off x="5152160" y="4902864"/>
            <a:ext cx="15479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measures</a:t>
            </a:r>
            <a:endParaRPr lang="en-US" sz="14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E825EFAD-A8C1-C4AE-B294-D1BB76CE161D}"/>
              </a:ext>
            </a:extLst>
          </p:cNvPr>
          <p:cNvSpPr/>
          <p:nvPr/>
        </p:nvSpPr>
        <p:spPr>
          <a:xfrm>
            <a:off x="7112000" y="5013747"/>
            <a:ext cx="151015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Interoceptive felt </a:t>
            </a:r>
          </a:p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focus</a:t>
            </a:r>
            <a:endParaRPr lang="en-US" sz="14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2B8CE745-C546-F892-DBD8-8A136079EA97}"/>
              </a:ext>
            </a:extLst>
          </p:cNvPr>
          <p:cNvSpPr/>
          <p:nvPr/>
        </p:nvSpPr>
        <p:spPr>
          <a:xfrm>
            <a:off x="6038850" y="6387547"/>
            <a:ext cx="169413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all measures</a:t>
            </a:r>
            <a:endParaRPr lang="en-US" sz="1400" dirty="0"/>
          </a:p>
        </p:txBody>
      </p:sp>
      <p:sp>
        <p:nvSpPr>
          <p:cNvPr id="148" name="Text 19">
            <a:extLst>
              <a:ext uri="{FF2B5EF4-FFF2-40B4-BE49-F238E27FC236}">
                <a16:creationId xmlns:a16="http://schemas.microsoft.com/office/drawing/2014/main" id="{428FB9E3-DFE8-25BD-2EE0-BBD43D2B4262}"/>
              </a:ext>
            </a:extLst>
          </p:cNvPr>
          <p:cNvSpPr/>
          <p:nvPr/>
        </p:nvSpPr>
        <p:spPr>
          <a:xfrm>
            <a:off x="7040518" y="5163155"/>
            <a:ext cx="2272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9" name="Text 20">
            <a:extLst>
              <a:ext uri="{FF2B5EF4-FFF2-40B4-BE49-F238E27FC236}">
                <a16:creationId xmlns:a16="http://schemas.microsoft.com/office/drawing/2014/main" id="{DB4663D9-41B4-6523-B899-E01F2898CE8B}"/>
              </a:ext>
            </a:extLst>
          </p:cNvPr>
          <p:cNvSpPr/>
          <p:nvPr/>
        </p:nvSpPr>
        <p:spPr>
          <a:xfrm>
            <a:off x="6727141" y="6152949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3" name="Text 24">
            <a:extLst>
              <a:ext uri="{FF2B5EF4-FFF2-40B4-BE49-F238E27FC236}">
                <a16:creationId xmlns:a16="http://schemas.microsoft.com/office/drawing/2014/main" id="{EC3465CF-8A89-3D80-C9D8-E7275CCB12DC}"/>
              </a:ext>
            </a:extLst>
          </p:cNvPr>
          <p:cNvSpPr/>
          <p:nvPr/>
        </p:nvSpPr>
        <p:spPr>
          <a:xfrm>
            <a:off x="7942286" y="5163155"/>
            <a:ext cx="230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4" name="Text 25">
            <a:extLst>
              <a:ext uri="{FF2B5EF4-FFF2-40B4-BE49-F238E27FC236}">
                <a16:creationId xmlns:a16="http://schemas.microsoft.com/office/drawing/2014/main" id="{0691BA43-F11C-436C-BF02-792403B191E8}"/>
              </a:ext>
            </a:extLst>
          </p:cNvPr>
          <p:cNvSpPr/>
          <p:nvPr/>
        </p:nvSpPr>
        <p:spPr>
          <a:xfrm>
            <a:off x="7531497" y="4655737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2C404767-057E-CDA5-62FA-B6754C0E6320}"/>
              </a:ext>
            </a:extLst>
          </p:cNvPr>
          <p:cNvSpPr/>
          <p:nvPr/>
        </p:nvSpPr>
        <p:spPr>
          <a:xfrm>
            <a:off x="4163571" y="5446619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C9D519C2-26D0-6D7C-D57D-DE15306B9BB1}"/>
              </a:ext>
            </a:extLst>
          </p:cNvPr>
          <p:cNvSpPr/>
          <p:nvPr/>
        </p:nvSpPr>
        <p:spPr>
          <a:xfrm>
            <a:off x="6277664" y="8546164"/>
            <a:ext cx="6403852" cy="957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/>
              <a:t>Metz, S., Duesenberg, M., Hellmann-Regen, J., Wolf, O. T., Roepke, S., Otte, C., &amp; </a:t>
            </a:r>
            <a:r>
              <a:rPr lang="en-US" sz="900" dirty="0" err="1"/>
              <a:t>Wingenfeld</a:t>
            </a:r>
            <a:r>
              <a:rPr lang="en-US" sz="900" dirty="0"/>
              <a:t>, K. (2020). Blunted salivary cortisol response to psychosocial stress in women with posttraumatic stress disorder. </a:t>
            </a:r>
            <a:r>
              <a:rPr lang="en-US" sz="900" i="1" dirty="0"/>
              <a:t>Journal of Psychiatric Research</a:t>
            </a:r>
            <a:r>
              <a:rPr lang="en-US" sz="900" dirty="0"/>
              <a:t>, </a:t>
            </a:r>
            <a:r>
              <a:rPr lang="en-US" sz="900" i="1" dirty="0"/>
              <a:t>130</a:t>
            </a:r>
            <a:r>
              <a:rPr lang="en-US" sz="900" dirty="0"/>
              <a:t>, 112–119. </a:t>
            </a:r>
            <a:r>
              <a:rPr lang="en-US" sz="900" dirty="0">
                <a:hlinkClick r:id="rId6"/>
              </a:rPr>
              <a:t>https://doi.org/10.1016/j.jpsychires.2020.07.014</a:t>
            </a:r>
            <a:endParaRPr lang="en-US" sz="900" dirty="0"/>
          </a:p>
          <a:p>
            <a:r>
              <a:rPr lang="en-US" sz="900" dirty="0"/>
              <a:t>Porges, S. W. (2021). Cardiac vagal tone. </a:t>
            </a:r>
            <a:r>
              <a:rPr lang="en-US" sz="900" i="1" dirty="0"/>
              <a:t>World Psychiatry</a:t>
            </a:r>
            <a:r>
              <a:rPr lang="en-US" sz="900" dirty="0"/>
              <a:t>, </a:t>
            </a:r>
            <a:r>
              <a:rPr lang="en-US" sz="900" i="1" dirty="0"/>
              <a:t>20</a:t>
            </a:r>
            <a:r>
              <a:rPr lang="en-US" sz="900" dirty="0"/>
              <a:t>(2), 296–298. </a:t>
            </a:r>
            <a:r>
              <a:rPr lang="en-US" sz="900" dirty="0">
                <a:hlinkClick r:id="rId7"/>
              </a:rPr>
              <a:t>https://doi.org/10.1002/wps.20871</a:t>
            </a:r>
            <a:endParaRPr lang="en-US" sz="900" dirty="0"/>
          </a:p>
          <a:p>
            <a:r>
              <a:rPr lang="en-US" sz="900" dirty="0"/>
              <a:t>Tolin, D. F., &amp; Foa, E. B. (2006). Sex differences in trauma and posttraumatic stress disorder. </a:t>
            </a:r>
            <a:r>
              <a:rPr lang="en-US" sz="900" i="1" dirty="0"/>
              <a:t>Psychological Bulletin</a:t>
            </a:r>
            <a:r>
              <a:rPr lang="en-US" sz="900" dirty="0"/>
              <a:t>, </a:t>
            </a:r>
            <a:r>
              <a:rPr lang="en-US" sz="900" i="1" dirty="0"/>
              <a:t>132</a:t>
            </a:r>
            <a:r>
              <a:rPr lang="en-US" sz="900" dirty="0"/>
              <a:t>(6), 959–992. </a:t>
            </a:r>
            <a:r>
              <a:rPr lang="en-US" sz="900" dirty="0">
                <a:hlinkClick r:id="rId8"/>
              </a:rPr>
              <a:t>https://doi.org/10.1037/0033-2909.132.6.959</a:t>
            </a:r>
            <a:endParaRPr lang="en-US" sz="9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5A7AC545-7414-6F67-663F-3977C6F316AE}"/>
              </a:ext>
            </a:extLst>
          </p:cNvPr>
          <p:cNvSpPr/>
          <p:nvPr/>
        </p:nvSpPr>
        <p:spPr>
          <a:xfrm>
            <a:off x="8818564" y="5159144"/>
            <a:ext cx="3947306" cy="307569"/>
          </a:xfrm>
          <a:prstGeom prst="rect">
            <a:avLst/>
          </a:prstGeom>
          <a:solidFill>
            <a:srgbClr val="4B1768"/>
          </a:solidFill>
          <a:ln w="12700">
            <a:solidFill>
              <a:srgbClr val="4B1768"/>
            </a:solidFill>
            <a:prstDash val="solid"/>
          </a:ln>
        </p:spPr>
        <p:txBody>
          <a:bodyPr tIns="0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control · small N · pre-post only · women 25–55 only</a:t>
            </a:r>
          </a:p>
        </p:txBody>
      </p:sp>
    </p:spTree>
    <p:extLst>
      <p:ext uri="{BB962C8B-B14F-4D97-AF65-F5344CB8AC3E}">
        <p14:creationId xmlns:p14="http://schemas.microsoft.com/office/powerpoint/2010/main" val="428446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664</Words>
  <Application>Microsoft Office PowerPoint</Application>
  <PresentationFormat>A3 Paper (297x420 mm)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2026-04-05T14:22:44Z</dcterms:created>
  <dcterms:modified xsi:type="dcterms:W3CDTF">2026-04-05T14:23:06Z</dcterms:modified>
</cp:coreProperties>
</file>